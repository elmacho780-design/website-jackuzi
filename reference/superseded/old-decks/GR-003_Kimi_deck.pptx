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custom"/>
  <p:notesSz cx="12192000" cy="6858000"/>
  <p:embeddedFontLst>
    <p:embeddedFont>
      <p:font typeface="Liter" charset="-122" pitchFamily="34"/>
      <p:regular r:id="rId13"/>
    </p:embeddedFont>
    <p:embeddedFont>
      <p:font typeface="MiSans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-top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nav-l"/>
          <p:cNvSpPr txBox="1"/>
          <p:nvPr/>
        </p:nvSpPr>
        <p:spPr>
          <a:xfrm>
            <a:off x="609600" y="1651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HML VIDEO LESSONS · GR-003 · SLIDE 1 · TITLE</a:t>
            </a:r>
            <a:endParaRPr lang="en-US" sz="1050" noProof="1"/>
          </a:p>
        </p:txBody>
      </p:sp>
      <p:sp>
        <p:nvSpPr>
          <p:cNvPr id="4" name="nav-r"/>
          <p:cNvSpPr txBox="1"/>
          <p:nvPr/>
        </p:nvSpPr>
        <p:spPr>
          <a:xfrm>
            <a:off x="5080000" y="165100"/>
            <a:ext cx="6502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PERSONAL PRONOUNS</a:t>
            </a:r>
            <a:endParaRPr lang="en-US" sz="1050" noProof="1"/>
          </a:p>
        </p:txBody>
      </p:sp>
      <p:sp>
        <p:nvSpPr>
          <p:cNvPr id="5" name="foot-l"/>
          <p:cNvSpPr txBox="1"/>
          <p:nvPr/>
        </p:nvSpPr>
        <p:spPr>
          <a:xfrm>
            <a:off x="609600" y="6527800"/>
            <a:ext cx="914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00" noProof="1" b="1">
                <a:solidFill>
                  <a:srgbClr val="4285F4"/>
                </a:solidFill>
                <a:latin typeface="MiSans"/>
                <a:ea typeface="MiSans"/>
              </a:rPr>
              <a:t>15 sec</a:t>
            </a:r>
            <a:endParaRPr lang="en-US" sz="1000" noProof="1"/>
          </a:p>
        </p:txBody>
      </p:sp>
      <p:sp>
        <p:nvSpPr>
          <p:cNvPr id="6" name="page-n"/>
          <p:cNvSpPr txBox="1"/>
          <p:nvPr/>
        </p:nvSpPr>
        <p:spPr>
          <a:xfrm>
            <a:off x="10922000" y="65278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01 / 10</a:t>
            </a:r>
            <a:endParaRPr lang="en-US" sz="1000" noProof="1"/>
          </a:p>
        </p:txBody>
      </p:sp>
      <p:sp>
        <p:nvSpPr>
          <p:cNvPr id="7" name="chip-code-bg"/>
          <p:cNvSpPr/>
          <p:nvPr/>
        </p:nvSpPr>
        <p:spPr>
          <a:xfrm>
            <a:off x="609600" y="1371600"/>
            <a:ext cx="1168400" cy="381000"/>
          </a:xfrm>
          <a:prstGeom prst="rect">
            <a:avLst/>
          </a:prstGeom>
          <a:solidFill>
            <a:srgbClr val="0059BA"/>
          </a:solidFill>
          <a:ln>
            <a:noFill/>
          </a:ln>
        </p:spPr>
      </p:sp>
      <p:sp>
        <p:nvSpPr>
          <p:cNvPr id="8" name="chip-code-tx"/>
          <p:cNvSpPr txBox="1"/>
          <p:nvPr/>
        </p:nvSpPr>
        <p:spPr>
          <a:xfrm>
            <a:off x="660400" y="1371600"/>
            <a:ext cx="1066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GR-003</a:t>
            </a:r>
            <a:endParaRPr lang="en-US" sz="1300" noProof="1"/>
          </a:p>
        </p:txBody>
      </p:sp>
      <p:sp>
        <p:nvSpPr>
          <p:cNvPr id="9" name="chip-lvl-bg"/>
          <p:cNvSpPr/>
          <p:nvPr/>
        </p:nvSpPr>
        <p:spPr>
          <a:xfrm>
            <a:off x="1930400" y="1371600"/>
            <a:ext cx="838200" cy="381000"/>
          </a:xfrm>
          <a:prstGeom prst="rect">
            <a:avLst/>
          </a:prstGeom>
          <a:solidFill>
            <a:srgbClr val="24C2E0"/>
          </a:solidFill>
          <a:ln>
            <a:noFill/>
          </a:ln>
        </p:spPr>
      </p:sp>
      <p:sp>
        <p:nvSpPr>
          <p:cNvPr id="10" name="chip-lvl-tx"/>
          <p:cNvSpPr txBox="1"/>
          <p:nvPr/>
        </p:nvSpPr>
        <p:spPr>
          <a:xfrm>
            <a:off x="1981200" y="1371600"/>
            <a:ext cx="736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A1</a:t>
            </a:r>
            <a:endParaRPr lang="en-US" sz="1300" noProof="1"/>
          </a:p>
        </p:txBody>
      </p:sp>
      <p:sp>
        <p:nvSpPr>
          <p:cNvPr id="11" name="t-en"/>
          <p:cNvSpPr txBox="1"/>
          <p:nvPr/>
        </p:nvSpPr>
        <p:spPr>
          <a:xfrm>
            <a:off x="609600" y="2006600"/>
            <a:ext cx="10972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4400" noProof="1" b="1">
                <a:solidFill>
                  <a:srgbClr val="202124"/>
                </a:solidFill>
                <a:latin typeface="MiSans"/>
                <a:ea typeface="MiSans"/>
              </a:rPr>
              <a:t>Personal pronouns</a:t>
            </a:r>
            <a:endParaRPr lang="en-US" sz="4400" noProof="1"/>
          </a:p>
        </p:txBody>
      </p:sp>
      <p:sp>
        <p:nvSpPr>
          <p:cNvPr id="12" name="t-mn"/>
          <p:cNvSpPr txBox="1"/>
          <p:nvPr/>
        </p:nvSpPr>
        <p:spPr>
          <a:xfrm>
            <a:off x="609600" y="28448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900" noProof="1">
                <a:solidFill>
                  <a:srgbClr val="9AA0A6"/>
                </a:solidFill>
                <a:latin typeface="MiSans"/>
                <a:ea typeface="MiSans"/>
              </a:rPr>
              <a:t>Хувийн төлөөний үг</a:t>
            </a:r>
            <a:endParaRPr lang="en-US" sz="1900" noProof="1"/>
          </a:p>
        </p:txBody>
      </p:sp>
      <p:sp>
        <p:nvSpPr>
          <p:cNvPr id="13" name="t-hl"/>
          <p:cNvSpPr/>
          <p:nvPr/>
        </p:nvSpPr>
        <p:spPr>
          <a:xfrm>
            <a:off x="609600" y="3632200"/>
            <a:ext cx="15240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14" name="t-promise"/>
          <p:cNvSpPr txBox="1"/>
          <p:nvPr/>
        </p:nvSpPr>
        <p:spPr>
          <a:xfrm>
            <a:off x="609600" y="39116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500" noProof="1">
                <a:solidFill>
                  <a:srgbClr val="202124"/>
                </a:solidFill>
                <a:latin typeface="MiSans"/>
                <a:ea typeface="MiSans"/>
              </a:rPr>
              <a:t>Seven small words that stand in for people and things — know all seven, and never mix up he and she again.</a:t>
            </a:r>
            <a:endParaRPr lang="en-US" sz="1500" noProof="1"/>
          </a:p>
        </p:txBody>
      </p:sp>
      <p:sp>
        <p:nvSpPr>
          <p:cNvPr id="15" name="t-meta"/>
          <p:cNvSpPr txBox="1"/>
          <p:nvPr/>
        </p:nvSpPr>
        <p:spPr>
          <a:xfrm>
            <a:off x="609600" y="4927600"/>
            <a:ext cx="787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150" noProof="1">
                <a:solidFill>
                  <a:srgbClr val="9AA0A6"/>
                </a:solidFill>
                <a:latin typeface="MiSans"/>
                <a:ea typeface="MiSans"/>
              </a:rPr>
              <a:t>10 slides · about 6 minutes · video teaches, practice sits below</a:t>
            </a:r>
            <a:endParaRPr lang="en-US" sz="1150" noProof="1"/>
          </a:p>
        </p:txBody>
      </p:sp>
      <p:pic>
        <p:nvPicPr>
          <p:cNvPr id="16" name="acc-stripes"/>
          <p:cNvPicPr/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10414000" y="3810000"/>
            <a:ext cx="1092200" cy="1092200"/>
          </a:xfrm>
          <a:prstGeom prst="rect">
            <a:avLst/>
          </a:prstGeom>
          <a:ln>
            <a:noFill/>
          </a:ln>
        </p:spPr>
      </p:pic>
      <p:sp>
        <p:nvSpPr>
          <p:cNvPr id="17" name="acc-quarter"/>
          <p:cNvSpPr/>
          <p:nvPr/>
        </p:nvSpPr>
        <p:spPr>
          <a:xfrm>
            <a:off x="11912600" y="4495800"/>
            <a:ext cx="2057400" cy="205740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ADCCFA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-top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nav-l"/>
          <p:cNvSpPr txBox="1"/>
          <p:nvPr/>
        </p:nvSpPr>
        <p:spPr>
          <a:xfrm>
            <a:off x="609600" y="1651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HML VIDEO LESSONS · GR-003 · SLIDE 2 · HOOK</a:t>
            </a:r>
            <a:endParaRPr lang="en-US" sz="1050" noProof="1"/>
          </a:p>
        </p:txBody>
      </p:sp>
      <p:sp>
        <p:nvSpPr>
          <p:cNvPr id="4" name="nav-r"/>
          <p:cNvSpPr txBox="1"/>
          <p:nvPr/>
        </p:nvSpPr>
        <p:spPr>
          <a:xfrm>
            <a:off x="5080000" y="165100"/>
            <a:ext cx="6502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PERSONAL PRONOUNS</a:t>
            </a:r>
            <a:endParaRPr lang="en-US" sz="1050" noProof="1"/>
          </a:p>
        </p:txBody>
      </p:sp>
      <p:sp>
        <p:nvSpPr>
          <p:cNvPr id="5" name="foot-l"/>
          <p:cNvSpPr txBox="1"/>
          <p:nvPr/>
        </p:nvSpPr>
        <p:spPr>
          <a:xfrm>
            <a:off x="609600" y="6527800"/>
            <a:ext cx="914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00" noProof="1" b="1">
                <a:solidFill>
                  <a:srgbClr val="4285F4"/>
                </a:solidFill>
                <a:latin typeface="MiSans"/>
                <a:ea typeface="MiSans"/>
              </a:rPr>
              <a:t>35 sec</a:t>
            </a: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 · 1 click per version · read version 1 slightly robotically</a:t>
            </a:r>
            <a:endParaRPr lang="en-US" sz="1000" noProof="1"/>
          </a:p>
        </p:txBody>
      </p:sp>
      <p:sp>
        <p:nvSpPr>
          <p:cNvPr id="6" name="page-n"/>
          <p:cNvSpPr txBox="1"/>
          <p:nvPr/>
        </p:nvSpPr>
        <p:spPr>
          <a:xfrm>
            <a:off x="10922000" y="65278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02 / 10</a:t>
            </a:r>
            <a:endParaRPr lang="en-US" sz="1000" noProof="1"/>
          </a:p>
        </p:txBody>
      </p:sp>
      <p:sp>
        <p:nvSpPr>
          <p:cNvPr id="7" name="s-t"/>
          <p:cNvSpPr txBox="1"/>
          <p:nvPr/>
        </p:nvSpPr>
        <p:spPr>
          <a:xfrm>
            <a:off x="609600" y="508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2700" noProof="1" b="1">
                <a:solidFill>
                  <a:srgbClr val="202124"/>
                </a:solidFill>
                <a:latin typeface="MiSans"/>
                <a:ea typeface="MiSans"/>
              </a:rPr>
              <a:t>Nobody says a name four times</a:t>
            </a:r>
            <a:endParaRPr lang="en-US" sz="2700" noProof="1"/>
          </a:p>
        </p:txBody>
      </p:sp>
      <p:sp>
        <p:nvSpPr>
          <p:cNvPr id="8" name="s-t-sub"/>
          <p:cNvSpPr txBox="1"/>
          <p:nvPr/>
        </p:nvSpPr>
        <p:spPr>
          <a:xfrm>
            <a:off x="609600" y="9906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9AA0A6"/>
                </a:solidFill>
                <a:latin typeface="MiSans"/>
                <a:ea typeface="MiSans"/>
              </a:rPr>
              <a:t>The same four sentences — twice. The problem is felt before it is explained.</a:t>
            </a:r>
            <a:endParaRPr lang="en-US" sz="1300" noProof="1"/>
          </a:p>
        </p:txBody>
      </p:sp>
      <p:sp>
        <p:nvSpPr>
          <p:cNvPr id="9" name="h0-bg"/>
          <p:cNvSpPr/>
          <p:nvPr/>
        </p:nvSpPr>
        <p:spPr>
          <a:xfrm>
            <a:off x="609600" y="1498600"/>
            <a:ext cx="10972800" cy="2235200"/>
          </a:xfrm>
          <a:prstGeom prst="rect">
            <a:avLst/>
          </a:prstGeom>
          <a:solidFill>
            <a:srgbClr val="F6F7F9"/>
          </a:solidFill>
          <a:ln>
            <a:noFill/>
          </a:ln>
        </p:spPr>
      </p:sp>
      <p:sp>
        <p:nvSpPr>
          <p:cNvPr id="10" name="h0-tag"/>
          <p:cNvSpPr txBox="1"/>
          <p:nvPr/>
        </p:nvSpPr>
        <p:spPr>
          <a:xfrm>
            <a:off x="838200" y="1651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 spc="100" kern="0">
                <a:solidFill>
                  <a:srgbClr val="9AA0A6"/>
                </a:solidFill>
                <a:latin typeface="MiSans"/>
                <a:ea typeface="MiSans"/>
              </a:rPr>
              <a:t>Without pronouns</a:t>
            </a:r>
            <a:endParaRPr lang="en-US" sz="1250" noProof="1"/>
          </a:p>
        </p:txBody>
      </p:sp>
      <p:sp>
        <p:nvSpPr>
          <p:cNvPr id="11" name="h0-0"/>
          <p:cNvSpPr txBox="1"/>
          <p:nvPr/>
        </p:nvSpPr>
        <p:spPr>
          <a:xfrm>
            <a:off x="838200" y="20066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 b="1">
                <a:solidFill>
                  <a:srgbClr val="4285F4"/>
                </a:solidFill>
                <a:latin typeface="MiSans"/>
                <a:ea typeface="MiSans"/>
              </a:rPr>
              <a:t>Bat</a:t>
            </a: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 is my friend.</a:t>
            </a:r>
            <a:endParaRPr lang="en-US" sz="1650" noProof="1"/>
          </a:p>
        </p:txBody>
      </p:sp>
      <p:sp>
        <p:nvSpPr>
          <p:cNvPr id="12" name="h0-1"/>
          <p:cNvSpPr txBox="1"/>
          <p:nvPr/>
        </p:nvSpPr>
        <p:spPr>
          <a:xfrm>
            <a:off x="838200" y="24257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 b="1">
                <a:solidFill>
                  <a:srgbClr val="4285F4"/>
                </a:solidFill>
                <a:latin typeface="MiSans"/>
                <a:ea typeface="MiSans"/>
              </a:rPr>
              <a:t>Bat</a:t>
            </a: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 is 12.</a:t>
            </a:r>
            <a:endParaRPr lang="en-US" sz="1650" noProof="1"/>
          </a:p>
        </p:txBody>
      </p:sp>
      <p:sp>
        <p:nvSpPr>
          <p:cNvPr id="13" name="h0-2"/>
          <p:cNvSpPr txBox="1"/>
          <p:nvPr/>
        </p:nvSpPr>
        <p:spPr>
          <a:xfrm>
            <a:off x="838200" y="28448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 b="1">
                <a:solidFill>
                  <a:srgbClr val="4285F4"/>
                </a:solidFill>
                <a:latin typeface="MiSans"/>
                <a:ea typeface="MiSans"/>
              </a:rPr>
              <a:t>Bat</a:t>
            </a: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 is very tall.</a:t>
            </a:r>
            <a:endParaRPr lang="en-US" sz="1650" noProof="1"/>
          </a:p>
        </p:txBody>
      </p:sp>
      <p:sp>
        <p:nvSpPr>
          <p:cNvPr id="14" name="h0-3"/>
          <p:cNvSpPr txBox="1"/>
          <p:nvPr/>
        </p:nvSpPr>
        <p:spPr>
          <a:xfrm>
            <a:off x="838200" y="32639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 b="1">
                <a:solidFill>
                  <a:srgbClr val="4285F4"/>
                </a:solidFill>
                <a:latin typeface="MiSans"/>
                <a:ea typeface="MiSans"/>
              </a:rPr>
              <a:t>Bat</a:t>
            </a: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 is in my class.</a:t>
            </a:r>
            <a:endParaRPr lang="en-US" sz="1650" noProof="1"/>
          </a:p>
        </p:txBody>
      </p:sp>
      <p:sp>
        <p:nvSpPr>
          <p:cNvPr id="15" name="h1-bg"/>
          <p:cNvSpPr/>
          <p:nvPr/>
        </p:nvSpPr>
        <p:spPr>
          <a:xfrm>
            <a:off x="609600" y="3911600"/>
            <a:ext cx="10972800" cy="2235200"/>
          </a:xfrm>
          <a:prstGeom prst="rect">
            <a:avLst/>
          </a:prstGeom>
          <a:solidFill>
            <a:srgbClr val="EEF4FE"/>
          </a:solidFill>
          <a:ln>
            <a:noFill/>
          </a:ln>
        </p:spPr>
      </p:sp>
      <p:sp>
        <p:nvSpPr>
          <p:cNvPr id="16" name="h1-tag"/>
          <p:cNvSpPr txBox="1"/>
          <p:nvPr/>
        </p:nvSpPr>
        <p:spPr>
          <a:xfrm>
            <a:off x="838200" y="4064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 spc="100" kern="0">
                <a:solidFill>
                  <a:srgbClr val="0059BA"/>
                </a:solidFill>
                <a:latin typeface="MiSans"/>
                <a:ea typeface="MiSans"/>
              </a:rPr>
              <a:t>With a pronoun</a:t>
            </a:r>
            <a:endParaRPr lang="en-US" sz="1250" noProof="1"/>
          </a:p>
        </p:txBody>
      </p:sp>
      <p:sp>
        <p:nvSpPr>
          <p:cNvPr id="17" name="h1-0"/>
          <p:cNvSpPr txBox="1"/>
          <p:nvPr/>
        </p:nvSpPr>
        <p:spPr>
          <a:xfrm>
            <a:off x="838200" y="44196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Bat is my friend.</a:t>
            </a:r>
            <a:endParaRPr lang="en-US" sz="1650" noProof="1"/>
          </a:p>
        </p:txBody>
      </p:sp>
      <p:sp>
        <p:nvSpPr>
          <p:cNvPr id="18" name="h1-1"/>
          <p:cNvSpPr txBox="1"/>
          <p:nvPr/>
        </p:nvSpPr>
        <p:spPr>
          <a:xfrm>
            <a:off x="838200" y="48387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 b="1">
                <a:solidFill>
                  <a:srgbClr val="4285F4"/>
                </a:solidFill>
                <a:latin typeface="MiSans"/>
                <a:ea typeface="MiSans"/>
              </a:rPr>
              <a:t>He</a:t>
            </a: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 is 12.</a:t>
            </a:r>
            <a:endParaRPr lang="en-US" sz="1650" noProof="1"/>
          </a:p>
        </p:txBody>
      </p:sp>
      <p:sp>
        <p:nvSpPr>
          <p:cNvPr id="19" name="h1-2"/>
          <p:cNvSpPr txBox="1"/>
          <p:nvPr/>
        </p:nvSpPr>
        <p:spPr>
          <a:xfrm>
            <a:off x="838200" y="52578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 b="1">
                <a:solidFill>
                  <a:srgbClr val="4285F4"/>
                </a:solidFill>
                <a:latin typeface="MiSans"/>
                <a:ea typeface="MiSans"/>
              </a:rPr>
              <a:t>He</a:t>
            </a: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 is very tall.</a:t>
            </a:r>
            <a:endParaRPr lang="en-US" sz="1650" noProof="1"/>
          </a:p>
        </p:txBody>
      </p:sp>
      <p:sp>
        <p:nvSpPr>
          <p:cNvPr id="20" name="h1-3"/>
          <p:cNvSpPr txBox="1"/>
          <p:nvPr/>
        </p:nvSpPr>
        <p:spPr>
          <a:xfrm>
            <a:off x="838200" y="56769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 b="1">
                <a:solidFill>
                  <a:srgbClr val="4285F4"/>
                </a:solidFill>
                <a:latin typeface="MiSans"/>
                <a:ea typeface="MiSans"/>
              </a:rPr>
              <a:t>He</a:t>
            </a: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 is in my class.</a:t>
            </a:r>
            <a:endParaRPr lang="en-US" sz="16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-top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nav-l"/>
          <p:cNvSpPr txBox="1"/>
          <p:nvPr/>
        </p:nvSpPr>
        <p:spPr>
          <a:xfrm>
            <a:off x="609600" y="1651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HML VIDEO LESSONS · GR-003 · SLIDE 3 · ЖИШЭЭ · EXAMPLES</a:t>
            </a:r>
            <a:endParaRPr lang="en-US" sz="1050" noProof="1"/>
          </a:p>
        </p:txBody>
      </p:sp>
      <p:sp>
        <p:nvSpPr>
          <p:cNvPr id="4" name="nav-r"/>
          <p:cNvSpPr txBox="1"/>
          <p:nvPr/>
        </p:nvSpPr>
        <p:spPr>
          <a:xfrm>
            <a:off x="5080000" y="165100"/>
            <a:ext cx="6502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PERSONAL PRONOUNS</a:t>
            </a:r>
            <a:endParaRPr lang="en-US" sz="1050" noProof="1"/>
          </a:p>
        </p:txBody>
      </p:sp>
      <p:sp>
        <p:nvSpPr>
          <p:cNvPr id="5" name="foot-l"/>
          <p:cNvSpPr txBox="1"/>
          <p:nvPr/>
        </p:nvSpPr>
        <p:spPr>
          <a:xfrm>
            <a:off x="609600" y="6527800"/>
            <a:ext cx="914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00" noProof="1" b="1">
                <a:solidFill>
                  <a:srgbClr val="4285F4"/>
                </a:solidFill>
                <a:latin typeface="MiSans"/>
                <a:ea typeface="MiSans"/>
              </a:rPr>
              <a:t>40 sec</a:t>
            </a: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 · 1 click per card · read each twice</a:t>
            </a:r>
            <a:endParaRPr lang="en-US" sz="1000" noProof="1"/>
          </a:p>
        </p:txBody>
      </p:sp>
      <p:sp>
        <p:nvSpPr>
          <p:cNvPr id="6" name="page-n"/>
          <p:cNvSpPr txBox="1"/>
          <p:nvPr/>
        </p:nvSpPr>
        <p:spPr>
          <a:xfrm>
            <a:off x="10922000" y="65278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03 / 10</a:t>
            </a:r>
            <a:endParaRPr lang="en-US" sz="1000" noProof="1"/>
          </a:p>
        </p:txBody>
      </p:sp>
      <p:sp>
        <p:nvSpPr>
          <p:cNvPr id="7" name="s-t"/>
          <p:cNvSpPr txBox="1"/>
          <p:nvPr/>
        </p:nvSpPr>
        <p:spPr>
          <a:xfrm>
            <a:off x="609600" y="508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2700" noProof="1" b="1">
                <a:solidFill>
                  <a:srgbClr val="202124"/>
                </a:solidFill>
                <a:latin typeface="MiSans"/>
                <a:ea typeface="MiSans"/>
              </a:rPr>
              <a:t>Every pronoun points back to something already said</a:t>
            </a:r>
            <a:endParaRPr lang="en-US" sz="2700" noProof="1"/>
          </a:p>
        </p:txBody>
      </p:sp>
      <p:sp>
        <p:nvSpPr>
          <p:cNvPr id="8" name="s-t-sub"/>
          <p:cNvSpPr txBox="1"/>
          <p:nvPr/>
        </p:nvSpPr>
        <p:spPr>
          <a:xfrm>
            <a:off x="609600" y="9906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9AA0A6"/>
                </a:solidFill>
                <a:latin typeface="MiSans"/>
                <a:ea typeface="MiSans"/>
              </a:rPr>
              <a:t>Four sentences — rule not named yet. The arrow is the key visual.</a:t>
            </a:r>
            <a:endParaRPr lang="en-US" sz="1300" noProof="1"/>
          </a:p>
        </p:txBody>
      </p:sp>
      <p:sp>
        <p:nvSpPr>
          <p:cNvPr id="9" name="r0-n"/>
          <p:cNvSpPr txBox="1"/>
          <p:nvPr/>
        </p:nvSpPr>
        <p:spPr>
          <a:xfrm>
            <a:off x="609600" y="1638300"/>
            <a:ext cx="50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2400" noProof="1" b="1">
                <a:solidFill>
                  <a:srgbClr val="4285F4"/>
                </a:solidFill>
                <a:latin typeface="MiSans"/>
                <a:ea typeface="MiSans"/>
              </a:rPr>
              <a:t>1</a:t>
            </a:r>
            <a:endParaRPr lang="en-US" sz="2400" noProof="1"/>
          </a:p>
        </p:txBody>
      </p:sp>
      <p:sp>
        <p:nvSpPr>
          <p:cNvPr id="10" name="r0-t"/>
          <p:cNvSpPr txBox="1"/>
          <p:nvPr/>
        </p:nvSpPr>
        <p:spPr>
          <a:xfrm>
            <a:off x="1219200" y="1498600"/>
            <a:ext cx="8204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 b="1">
                <a:solidFill>
                  <a:srgbClr val="4285F4"/>
                </a:solidFill>
                <a:latin typeface="MiSans"/>
                <a:ea typeface="MiSans"/>
              </a:rPr>
              <a:t>He</a:t>
            </a:r>
            <a:r>
              <a:rPr lang="en-US" sz="1800" noProof="1">
                <a:solidFill>
                  <a:srgbClr val="202124"/>
                </a:solidFill>
                <a:latin typeface="MiSans"/>
                <a:ea typeface="MiSans"/>
              </a:rPr>
              <a:t> is 12.</a:t>
            </a:r>
            <a:endParaRPr lang="en-US" sz="18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1250" noProof="1">
                <a:solidFill>
                  <a:srgbClr val="9AA0A6"/>
                </a:solidFill>
                <a:latin typeface="MiSans"/>
                <a:ea typeface="MiSans"/>
              </a:rPr>
              <a:t>Bat is a student.</a:t>
            </a:r>
            <a:endParaRPr lang="en-US" sz="1800" noProof="1"/>
          </a:p>
        </p:txBody>
      </p:sp>
      <p:sp>
        <p:nvSpPr>
          <p:cNvPr id="11" name="r0-r"/>
          <p:cNvSpPr txBox="1"/>
          <p:nvPr/>
        </p:nvSpPr>
        <p:spPr>
          <a:xfrm>
            <a:off x="9423400" y="14986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30000"/>
              </a:lnSpc>
            </a:pPr>
            <a:r>
              <a:rPr lang="en-US" sz="1250" noProof="1">
                <a:solidFill>
                  <a:srgbClr val="9AA0A6"/>
                </a:solidFill>
                <a:latin typeface="MiSans"/>
                <a:ea typeface="MiSans"/>
              </a:rPr>
              <a:t>He ↩ Bat</a:t>
            </a:r>
            <a:endParaRPr lang="en-US" sz="1250" noProof="1"/>
          </a:p>
        </p:txBody>
      </p:sp>
      <p:sp>
        <p:nvSpPr>
          <p:cNvPr id="12" name="r0-hl"/>
          <p:cNvSpPr/>
          <p:nvPr/>
        </p:nvSpPr>
        <p:spPr>
          <a:xfrm>
            <a:off x="609600" y="2438400"/>
            <a:ext cx="109728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3" name="r1-n"/>
          <p:cNvSpPr txBox="1"/>
          <p:nvPr/>
        </p:nvSpPr>
        <p:spPr>
          <a:xfrm>
            <a:off x="609600" y="2578100"/>
            <a:ext cx="50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2400" noProof="1" b="1">
                <a:solidFill>
                  <a:srgbClr val="4285F4"/>
                </a:solidFill>
                <a:latin typeface="MiSans"/>
                <a:ea typeface="MiSans"/>
              </a:rPr>
              <a:t>2</a:t>
            </a:r>
            <a:endParaRPr lang="en-US" sz="2400" noProof="1"/>
          </a:p>
        </p:txBody>
      </p:sp>
      <p:sp>
        <p:nvSpPr>
          <p:cNvPr id="14" name="r1-t"/>
          <p:cNvSpPr txBox="1"/>
          <p:nvPr/>
        </p:nvSpPr>
        <p:spPr>
          <a:xfrm>
            <a:off x="1219200" y="2438400"/>
            <a:ext cx="8204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 b="1">
                <a:solidFill>
                  <a:srgbClr val="4285F4"/>
                </a:solidFill>
                <a:latin typeface="MiSans"/>
                <a:ea typeface="MiSans"/>
              </a:rPr>
              <a:t>She</a:t>
            </a:r>
            <a:r>
              <a:rPr lang="en-US" sz="1800" noProof="1">
                <a:solidFill>
                  <a:srgbClr val="202124"/>
                </a:solidFill>
                <a:latin typeface="MiSans"/>
                <a:ea typeface="MiSans"/>
              </a:rPr>
              <a:t> is a doctor.</a:t>
            </a:r>
            <a:endParaRPr lang="en-US" sz="18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1250" noProof="1">
                <a:solidFill>
                  <a:srgbClr val="9AA0A6"/>
                </a:solidFill>
                <a:latin typeface="MiSans"/>
                <a:ea typeface="MiSans"/>
              </a:rPr>
              <a:t>Saraa is my sister.</a:t>
            </a:r>
            <a:endParaRPr lang="en-US" sz="1800" noProof="1"/>
          </a:p>
        </p:txBody>
      </p:sp>
      <p:sp>
        <p:nvSpPr>
          <p:cNvPr id="15" name="r1-r"/>
          <p:cNvSpPr txBox="1"/>
          <p:nvPr/>
        </p:nvSpPr>
        <p:spPr>
          <a:xfrm>
            <a:off x="9423400" y="24384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30000"/>
              </a:lnSpc>
            </a:pPr>
            <a:r>
              <a:rPr lang="en-US" sz="1250" noProof="1">
                <a:solidFill>
                  <a:srgbClr val="9AA0A6"/>
                </a:solidFill>
                <a:latin typeface="MiSans"/>
                <a:ea typeface="MiSans"/>
              </a:rPr>
              <a:t>She ↩ Saraa</a:t>
            </a:r>
            <a:endParaRPr lang="en-US" sz="1250" noProof="1"/>
          </a:p>
        </p:txBody>
      </p:sp>
      <p:sp>
        <p:nvSpPr>
          <p:cNvPr id="16" name="r1-hl"/>
          <p:cNvSpPr/>
          <p:nvPr/>
        </p:nvSpPr>
        <p:spPr>
          <a:xfrm>
            <a:off x="609600" y="3378200"/>
            <a:ext cx="109728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7" name="r2-n"/>
          <p:cNvSpPr txBox="1"/>
          <p:nvPr/>
        </p:nvSpPr>
        <p:spPr>
          <a:xfrm>
            <a:off x="609600" y="3517900"/>
            <a:ext cx="50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2400" noProof="1" b="1">
                <a:solidFill>
                  <a:srgbClr val="4285F4"/>
                </a:solidFill>
                <a:latin typeface="MiSans"/>
                <a:ea typeface="MiSans"/>
              </a:rPr>
              <a:t>3</a:t>
            </a:r>
            <a:endParaRPr lang="en-US" sz="2400" noProof="1"/>
          </a:p>
        </p:txBody>
      </p:sp>
      <p:sp>
        <p:nvSpPr>
          <p:cNvPr id="18" name="r2-t"/>
          <p:cNvSpPr txBox="1"/>
          <p:nvPr/>
        </p:nvSpPr>
        <p:spPr>
          <a:xfrm>
            <a:off x="1219200" y="3378200"/>
            <a:ext cx="8204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 b="1">
                <a:solidFill>
                  <a:srgbClr val="4285F4"/>
                </a:solidFill>
                <a:latin typeface="MiSans"/>
                <a:ea typeface="MiSans"/>
              </a:rPr>
              <a:t>It</a:t>
            </a:r>
            <a:r>
              <a:rPr lang="en-US" sz="1800" noProof="1">
                <a:solidFill>
                  <a:srgbClr val="202124"/>
                </a:solidFill>
                <a:latin typeface="MiSans"/>
                <a:ea typeface="MiSans"/>
              </a:rPr>
              <a:t> is new.</a:t>
            </a:r>
            <a:endParaRPr lang="en-US" sz="18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1250" noProof="1">
                <a:solidFill>
                  <a:srgbClr val="9AA0A6"/>
                </a:solidFill>
                <a:latin typeface="MiSans"/>
                <a:ea typeface="MiSans"/>
              </a:rPr>
              <a:t>This is my phone.</a:t>
            </a:r>
            <a:endParaRPr lang="en-US" sz="1800" noProof="1"/>
          </a:p>
        </p:txBody>
      </p:sp>
      <p:sp>
        <p:nvSpPr>
          <p:cNvPr id="19" name="r2-r"/>
          <p:cNvSpPr txBox="1"/>
          <p:nvPr/>
        </p:nvSpPr>
        <p:spPr>
          <a:xfrm>
            <a:off x="9423400" y="33782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30000"/>
              </a:lnSpc>
            </a:pPr>
            <a:r>
              <a:rPr lang="en-US" sz="1250" noProof="1">
                <a:solidFill>
                  <a:srgbClr val="9AA0A6"/>
                </a:solidFill>
                <a:latin typeface="MiSans"/>
                <a:ea typeface="MiSans"/>
              </a:rPr>
              <a:t>It ↩ my phone</a:t>
            </a:r>
            <a:endParaRPr lang="en-US" sz="1250" noProof="1"/>
          </a:p>
        </p:txBody>
      </p:sp>
      <p:sp>
        <p:nvSpPr>
          <p:cNvPr id="20" name="r2-hl"/>
          <p:cNvSpPr/>
          <p:nvPr/>
        </p:nvSpPr>
        <p:spPr>
          <a:xfrm>
            <a:off x="609600" y="4318000"/>
            <a:ext cx="109728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21" name="r3-n"/>
          <p:cNvSpPr txBox="1"/>
          <p:nvPr/>
        </p:nvSpPr>
        <p:spPr>
          <a:xfrm>
            <a:off x="609600" y="4457700"/>
            <a:ext cx="50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2400" noProof="1" b="1">
                <a:solidFill>
                  <a:srgbClr val="4285F4"/>
                </a:solidFill>
                <a:latin typeface="MiSans"/>
                <a:ea typeface="MiSans"/>
              </a:rPr>
              <a:t>4</a:t>
            </a:r>
            <a:endParaRPr lang="en-US" sz="2400" noProof="1"/>
          </a:p>
        </p:txBody>
      </p:sp>
      <p:sp>
        <p:nvSpPr>
          <p:cNvPr id="22" name="r3-t"/>
          <p:cNvSpPr txBox="1"/>
          <p:nvPr/>
        </p:nvSpPr>
        <p:spPr>
          <a:xfrm>
            <a:off x="1219200" y="4318000"/>
            <a:ext cx="8204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 b="1">
                <a:solidFill>
                  <a:srgbClr val="4285F4"/>
                </a:solidFill>
                <a:latin typeface="MiSans"/>
                <a:ea typeface="MiSans"/>
              </a:rPr>
              <a:t>We</a:t>
            </a:r>
            <a:r>
              <a:rPr lang="en-US" sz="1800" noProof="1">
                <a:solidFill>
                  <a:srgbClr val="202124"/>
                </a:solidFill>
                <a:latin typeface="MiSans"/>
                <a:ea typeface="MiSans"/>
              </a:rPr>
              <a:t> are in the same class.</a:t>
            </a:r>
            <a:endParaRPr lang="en-US" sz="1800" noProof="1"/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lang="en-US" sz="1250" noProof="1">
                <a:solidFill>
                  <a:srgbClr val="9AA0A6"/>
                </a:solidFill>
                <a:latin typeface="MiSans"/>
                <a:ea typeface="MiSans"/>
              </a:rPr>
              <a:t>Bat and I are friends.</a:t>
            </a:r>
            <a:endParaRPr lang="en-US" sz="1800" noProof="1"/>
          </a:p>
        </p:txBody>
      </p:sp>
      <p:sp>
        <p:nvSpPr>
          <p:cNvPr id="23" name="r3-r"/>
          <p:cNvSpPr txBox="1"/>
          <p:nvPr/>
        </p:nvSpPr>
        <p:spPr>
          <a:xfrm>
            <a:off x="9423400" y="4318000"/>
            <a:ext cx="215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30000"/>
              </a:lnSpc>
            </a:pPr>
            <a:r>
              <a:rPr lang="en-US" sz="1250" noProof="1">
                <a:solidFill>
                  <a:srgbClr val="9AA0A6"/>
                </a:solidFill>
                <a:latin typeface="MiSans"/>
                <a:ea typeface="MiSans"/>
              </a:rPr>
              <a:t>We ↩ Bat and I</a:t>
            </a:r>
            <a:endParaRPr lang="en-US" sz="12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-top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nav-l"/>
          <p:cNvSpPr txBox="1"/>
          <p:nvPr/>
        </p:nvSpPr>
        <p:spPr>
          <a:xfrm>
            <a:off x="609600" y="1651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HML VIDEO LESSONS · GR-003 · SLIDE 4 · ДҮРЭМ · RULE</a:t>
            </a:r>
            <a:endParaRPr lang="en-US" sz="1050" noProof="1"/>
          </a:p>
        </p:txBody>
      </p:sp>
      <p:sp>
        <p:nvSpPr>
          <p:cNvPr id="4" name="nav-r"/>
          <p:cNvSpPr txBox="1"/>
          <p:nvPr/>
        </p:nvSpPr>
        <p:spPr>
          <a:xfrm>
            <a:off x="5080000" y="165100"/>
            <a:ext cx="6502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PERSONAL PRONOUNS</a:t>
            </a:r>
            <a:endParaRPr lang="en-US" sz="1050" noProof="1"/>
          </a:p>
        </p:txBody>
      </p:sp>
      <p:sp>
        <p:nvSpPr>
          <p:cNvPr id="5" name="foot-l"/>
          <p:cNvSpPr txBox="1"/>
          <p:nvPr/>
        </p:nvSpPr>
        <p:spPr>
          <a:xfrm>
            <a:off x="609600" y="6527800"/>
            <a:ext cx="914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00" noProof="1" b="1">
                <a:solidFill>
                  <a:srgbClr val="4285F4"/>
                </a:solidFill>
                <a:latin typeface="MiSans"/>
                <a:ea typeface="MiSans"/>
              </a:rPr>
              <a:t>55 sec</a:t>
            </a: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 · 1 click per row</a:t>
            </a:r>
            <a:endParaRPr lang="en-US" sz="1000" noProof="1"/>
          </a:p>
        </p:txBody>
      </p:sp>
      <p:sp>
        <p:nvSpPr>
          <p:cNvPr id="6" name="page-n"/>
          <p:cNvSpPr txBox="1"/>
          <p:nvPr/>
        </p:nvSpPr>
        <p:spPr>
          <a:xfrm>
            <a:off x="10922000" y="65278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04 / 10</a:t>
            </a:r>
            <a:endParaRPr lang="en-US" sz="1000" noProof="1"/>
          </a:p>
        </p:txBody>
      </p:sp>
      <p:sp>
        <p:nvSpPr>
          <p:cNvPr id="7" name="s-t"/>
          <p:cNvSpPr txBox="1"/>
          <p:nvPr/>
        </p:nvSpPr>
        <p:spPr>
          <a:xfrm>
            <a:off x="609600" y="508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2700" noProof="1" b="1">
                <a:solidFill>
                  <a:srgbClr val="202124"/>
                </a:solidFill>
                <a:latin typeface="MiSans"/>
                <a:ea typeface="MiSans"/>
              </a:rPr>
              <a:t>Three kinds of people, one or many: the whole system</a:t>
            </a:r>
            <a:endParaRPr lang="en-US" sz="2700" noProof="1"/>
          </a:p>
        </p:txBody>
      </p:sp>
      <p:sp>
        <p:nvSpPr>
          <p:cNvPr id="8" name="s-t-sub"/>
          <p:cNvSpPr txBox="1"/>
          <p:nvPr/>
        </p:nvSpPr>
        <p:spPr>
          <a:xfrm>
            <a:off x="609600" y="9906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9AA0A6"/>
                </a:solidFill>
                <a:latin typeface="MiSans"/>
                <a:ea typeface="MiSans"/>
              </a:rPr>
              <a:t>Teach the grid, not a list — seven words in one system.</a:t>
            </a:r>
            <a:endParaRPr lang="en-US" sz="1300" noProof="1"/>
          </a:p>
        </p:txBody>
      </p:sp>
      <p:graphicFrame>
        <p:nvGraphicFramePr>
          <p:cNvPr id="9" name="s-tbl"/>
          <p:cNvGraphicFramePr>
            <a:graphicFrameLocks noGrp="1"/>
          </p:cNvGraphicFramePr>
          <p:nvPr/>
        </p:nvGraphicFramePr>
        <p:xfrm>
          <a:off x="609600" y="1498600"/>
          <a:ext cx="10972800" cy="40640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840480"/>
              </a:tblGrid>
              <a:tr h="8128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5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Нэг · one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D8DBE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15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Олон · more than one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D8DBE0"/>
                    </a:solidFill>
                  </a:tcPr>
                </a:tc>
              </a:tr>
              <a:tr h="10972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noProof="1">
                          <a:solidFill>
                            <a:srgbClr val="202124"/>
                          </a:solidFill>
                          <a:latin typeface="Liter"/>
                          <a:ea typeface="MiSans"/>
                        </a:rPr>
                        <a:t>Ярьж буй хүн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9AA0A6"/>
                          </a:solidFill>
                          <a:latin typeface="Liter"/>
                          <a:ea typeface="MiSans"/>
                        </a:rPr>
                        <a:t>the speaker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ADCC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I</a:t>
                      </a:r>
                      <a:r>
                        <a:rPr lang="en-US" sz="1500" noProof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 · </a:t>
                      </a:r>
                      <a:r>
                        <a:rPr lang="en-US" sz="1500" noProof="1">
                          <a:solidFill>
                            <a:srgbClr val="ADCCFA"/>
                          </a:solidFill>
                          <a:latin typeface="Liter"/>
                          <a:ea typeface="MiSans"/>
                        </a:rPr>
                        <a:t>би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0059B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we</a:t>
                      </a:r>
                      <a:r>
                        <a:rPr lang="en-US" sz="1500" noProof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 · </a:t>
                      </a:r>
                      <a:r>
                        <a:rPr lang="en-US" sz="1500" noProof="1">
                          <a:solidFill>
                            <a:srgbClr val="ADCCFA"/>
                          </a:solidFill>
                          <a:latin typeface="Liter"/>
                          <a:ea typeface="MiSans"/>
                        </a:rPr>
                        <a:t>бид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0059BA"/>
                    </a:solidFill>
                  </a:tcPr>
                </a:tc>
              </a:tr>
              <a:tr h="10972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noProof="1">
                          <a:solidFill>
                            <a:srgbClr val="202124"/>
                          </a:solidFill>
                          <a:latin typeface="Liter"/>
                          <a:ea typeface="MiSans"/>
                        </a:rPr>
                        <a:t>Сонсож буй хүн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9AA0A6"/>
                          </a:solidFill>
                          <a:latin typeface="Liter"/>
                          <a:ea typeface="MiSans"/>
                        </a:rPr>
                        <a:t>the listener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ADCC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you</a:t>
                      </a:r>
                      <a:r>
                        <a:rPr lang="en-US" sz="1500" noProof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 · </a:t>
                      </a:r>
                      <a:r>
                        <a:rPr lang="en-US" sz="1500" noProof="1">
                          <a:solidFill>
                            <a:srgbClr val="ADCCFA"/>
                          </a:solidFill>
                          <a:latin typeface="Liter"/>
                          <a:ea typeface="MiSans"/>
                        </a:rPr>
                        <a:t>чи, та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0059B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you</a:t>
                      </a:r>
                      <a:r>
                        <a:rPr lang="en-US" sz="1500" noProof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 · </a:t>
                      </a:r>
                      <a:r>
                        <a:rPr lang="en-US" sz="1500" noProof="1">
                          <a:solidFill>
                            <a:srgbClr val="ADCCFA"/>
                          </a:solidFill>
                          <a:latin typeface="Liter"/>
                          <a:ea typeface="MiSans"/>
                        </a:rPr>
                        <a:t>та нар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0059BA"/>
                    </a:solidFill>
                  </a:tcPr>
                </a:tc>
              </a:tr>
              <a:tr h="10566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noProof="1">
                          <a:solidFill>
                            <a:srgbClr val="202124"/>
                          </a:solidFill>
                          <a:latin typeface="Liter"/>
                          <a:ea typeface="MiSans"/>
                        </a:rPr>
                        <a:t>Бусад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100" noProof="1">
                          <a:solidFill>
                            <a:srgbClr val="9AA0A6"/>
                          </a:solidFill>
                          <a:latin typeface="Liter"/>
                          <a:ea typeface="MiSans"/>
                        </a:rPr>
                        <a:t>everyone else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ADCCF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he, she, it</a:t>
                      </a:r>
                      <a:r>
                        <a:rPr lang="en-US" sz="1500" noProof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 · </a:t>
                      </a:r>
                      <a:r>
                        <a:rPr lang="en-US" sz="1500" noProof="1">
                          <a:solidFill>
                            <a:srgbClr val="ADCCFA"/>
                          </a:solidFill>
                          <a:latin typeface="Liter"/>
                          <a:ea typeface="MiSans"/>
                        </a:rPr>
                        <a:t>тэр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0059B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sz="2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they</a:t>
                      </a:r>
                      <a:r>
                        <a:rPr lang="en-US" sz="1500" noProof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 · </a:t>
                      </a:r>
                      <a:r>
                        <a:rPr lang="en-US" sz="1500" noProof="1">
                          <a:solidFill>
                            <a:srgbClr val="ADCCFA"/>
                          </a:solidFill>
                          <a:latin typeface="Liter"/>
                          <a:ea typeface="MiSans"/>
                        </a:rPr>
                        <a:t>тэд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0059BA"/>
                    </a:solidFill>
                  </a:tcPr>
                </a:tc>
              </a:tr>
            </a:tbl>
          </a:graphicData>
        </a:graphic>
      </p:graphicFrame>
      <p:sp>
        <p:nvSpPr>
          <p:cNvPr id="10" name="s-cap"/>
          <p:cNvSpPr txBox="1"/>
          <p:nvPr/>
        </p:nvSpPr>
        <p:spPr>
          <a:xfrm>
            <a:off x="609600" y="56896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9AA0A6"/>
                </a:solidFill>
                <a:latin typeface="MiSans"/>
                <a:ea typeface="MiSans"/>
              </a:rPr>
              <a:t>Watch the two spots where English repeats itself (you · you) and where it splits (he · she · it) — the next two slides take each in turn.</a:t>
            </a:r>
            <a:endParaRPr lang="en-US" sz="13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-top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nav-l"/>
          <p:cNvSpPr txBox="1"/>
          <p:nvPr/>
        </p:nvSpPr>
        <p:spPr>
          <a:xfrm>
            <a:off x="609600" y="1651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HML VIDEO LESSONS · GR-003 · SLIDE 5 · ДҮРЭМ · RULE</a:t>
            </a:r>
            <a:endParaRPr lang="en-US" sz="1050" noProof="1"/>
          </a:p>
        </p:txBody>
      </p:sp>
      <p:sp>
        <p:nvSpPr>
          <p:cNvPr id="4" name="nav-r"/>
          <p:cNvSpPr txBox="1"/>
          <p:nvPr/>
        </p:nvSpPr>
        <p:spPr>
          <a:xfrm>
            <a:off x="5080000" y="165100"/>
            <a:ext cx="6502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PERSONAL PRONOUNS</a:t>
            </a:r>
            <a:endParaRPr lang="en-US" sz="1050" noProof="1"/>
          </a:p>
        </p:txBody>
      </p:sp>
      <p:sp>
        <p:nvSpPr>
          <p:cNvPr id="5" name="foot-l"/>
          <p:cNvSpPr txBox="1"/>
          <p:nvPr/>
        </p:nvSpPr>
        <p:spPr>
          <a:xfrm>
            <a:off x="609600" y="6527800"/>
            <a:ext cx="914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00" noProof="1" b="1">
                <a:solidFill>
                  <a:srgbClr val="4285F4"/>
                </a:solidFill>
                <a:latin typeface="MiSans"/>
                <a:ea typeface="MiSans"/>
              </a:rPr>
              <a:t>30 sec</a:t>
            </a: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 · Single click — everything together</a:t>
            </a:r>
            <a:endParaRPr lang="en-US" sz="1000" noProof="1"/>
          </a:p>
        </p:txBody>
      </p:sp>
      <p:sp>
        <p:nvSpPr>
          <p:cNvPr id="6" name="page-n"/>
          <p:cNvSpPr txBox="1"/>
          <p:nvPr/>
        </p:nvSpPr>
        <p:spPr>
          <a:xfrm>
            <a:off x="10922000" y="65278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05 / 10</a:t>
            </a:r>
            <a:endParaRPr lang="en-US" sz="1000" noProof="1"/>
          </a:p>
        </p:txBody>
      </p:sp>
      <p:sp>
        <p:nvSpPr>
          <p:cNvPr id="7" name="s-t"/>
          <p:cNvSpPr txBox="1"/>
          <p:nvPr/>
        </p:nvSpPr>
        <p:spPr>
          <a:xfrm>
            <a:off x="609600" y="508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2700" noProof="1" b="1">
                <a:solidFill>
                  <a:srgbClr val="202124"/>
                </a:solidFill>
                <a:latin typeface="MiSans"/>
                <a:ea typeface="MiSans"/>
              </a:rPr>
              <a:t>One you for three Mongolian words</a:t>
            </a:r>
            <a:endParaRPr lang="en-US" sz="2700" noProof="1"/>
          </a:p>
        </p:txBody>
      </p:sp>
      <p:sp>
        <p:nvSpPr>
          <p:cNvPr id="8" name="s-t-sub"/>
          <p:cNvSpPr txBox="1"/>
          <p:nvPr/>
        </p:nvSpPr>
        <p:spPr>
          <a:xfrm>
            <a:off x="609600" y="9906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9AA0A6"/>
                </a:solidFill>
                <a:latin typeface="MiSans"/>
                <a:ea typeface="MiSans"/>
              </a:rPr>
              <a:t>In English, politeness does not come from a different you.</a:t>
            </a:r>
            <a:endParaRPr lang="en-US" sz="1300" noProof="1"/>
          </a:p>
        </p:txBody>
      </p:sp>
      <p:sp>
        <p:nvSpPr>
          <p:cNvPr id="9" name="g0-bg"/>
          <p:cNvSpPr/>
          <p:nvPr/>
        </p:nvSpPr>
        <p:spPr>
          <a:xfrm>
            <a:off x="1524000" y="1905000"/>
            <a:ext cx="1651000" cy="711200"/>
          </a:xfrm>
          <a:prstGeom prst="rect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10" name="g0-tx"/>
          <p:cNvSpPr txBox="1"/>
          <p:nvPr/>
        </p:nvSpPr>
        <p:spPr>
          <a:xfrm>
            <a:off x="1574800" y="1905000"/>
            <a:ext cx="1549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0000"/>
              </a:lnSpc>
            </a:pPr>
            <a:r>
              <a:rPr lang="en-US" sz="2000" noProof="1" b="1">
                <a:solidFill>
                  <a:srgbClr val="202124"/>
                </a:solidFill>
                <a:latin typeface="MiSans"/>
                <a:ea typeface="MiSans"/>
              </a:rPr>
              <a:t>чи</a:t>
            </a:r>
            <a:endParaRPr lang="en-US" sz="2000" noProof="1"/>
          </a:p>
        </p:txBody>
      </p:sp>
      <p:sp>
        <p:nvSpPr>
          <p:cNvPr id="11" name="g0-ex"/>
          <p:cNvSpPr txBox="1"/>
          <p:nvPr/>
        </p:nvSpPr>
        <p:spPr>
          <a:xfrm>
            <a:off x="1524000" y="26670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9AA0A6"/>
                </a:solidFill>
                <a:latin typeface="MiSans"/>
                <a:ea typeface="MiSans"/>
              </a:rPr>
              <a:t>your little brother</a:t>
            </a:r>
            <a:endParaRPr lang="en-US" sz="1200" noProof="1"/>
          </a:p>
        </p:txBody>
      </p:sp>
      <p:sp>
        <p:nvSpPr>
          <p:cNvPr id="12" name="g0-a"/>
          <p:cNvSpPr/>
          <p:nvPr>
            <p:extLst>
              <p:ext uri="{F5677B7D-0D2A-4D9B-9A5C-6D8D7D0E5A5D}">
                <pptd:line encoding="base64url">eyJ2aWV3Qm94IjpbMzgwLDFdLCJwb2ludHMiOiIwLDAgMzgwLDAiLCJjdXJ2ZSI6InNoYXJwIn0</pptd:line>
              </p:ext>
            </p:extLst>
          </p:nvPr>
        </p:nvSpPr>
        <p:spPr>
          <a:xfrm>
            <a:off x="3327400" y="2260600"/>
            <a:ext cx="4826000" cy="12700"/>
          </a:xfrm>
          <a:custGeom>
            <a:avLst/>
            <a:gdLst/>
            <a:ahLst/>
            <a:cxnLst/>
            <a:rect l="l" t="t" r="r" b="b"/>
            <a:pathLst>
              <a:path w="380" h="1">
                <a:moveTo>
                  <a:pt x="0" y="0"/>
                </a:moveTo>
                <a:lnTo>
                  <a:pt x="380" y="0"/>
                </a:lnTo>
              </a:path>
            </a:pathLst>
          </a:custGeom>
          <a:noFill/>
          <a:ln w="19050">
            <a:solidFill>
              <a:srgbClr val="9AA0A6"/>
            </a:solidFill>
            <a:tailEnd type="arrow"/>
          </a:ln>
        </p:spPr>
      </p:sp>
      <p:sp>
        <p:nvSpPr>
          <p:cNvPr id="13" name="g1-bg"/>
          <p:cNvSpPr/>
          <p:nvPr/>
        </p:nvSpPr>
        <p:spPr>
          <a:xfrm>
            <a:off x="1524000" y="3175000"/>
            <a:ext cx="1651000" cy="711200"/>
          </a:xfrm>
          <a:prstGeom prst="rect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14" name="g1-tx"/>
          <p:cNvSpPr txBox="1"/>
          <p:nvPr/>
        </p:nvSpPr>
        <p:spPr>
          <a:xfrm>
            <a:off x="1574800" y="3175000"/>
            <a:ext cx="1549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0000"/>
              </a:lnSpc>
            </a:pPr>
            <a:r>
              <a:rPr lang="en-US" sz="2000" noProof="1" b="1">
                <a:solidFill>
                  <a:srgbClr val="202124"/>
                </a:solidFill>
                <a:latin typeface="MiSans"/>
                <a:ea typeface="MiSans"/>
              </a:rPr>
              <a:t>та</a:t>
            </a:r>
            <a:endParaRPr lang="en-US" sz="2000" noProof="1"/>
          </a:p>
        </p:txBody>
      </p:sp>
      <p:sp>
        <p:nvSpPr>
          <p:cNvPr id="15" name="g1-ex"/>
          <p:cNvSpPr txBox="1"/>
          <p:nvPr/>
        </p:nvSpPr>
        <p:spPr>
          <a:xfrm>
            <a:off x="1524000" y="39370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9AA0A6"/>
                </a:solidFill>
                <a:latin typeface="MiSans"/>
                <a:ea typeface="MiSans"/>
              </a:rPr>
              <a:t>your teacher</a:t>
            </a:r>
            <a:endParaRPr lang="en-US" sz="1200" noProof="1"/>
          </a:p>
        </p:txBody>
      </p:sp>
      <p:sp>
        <p:nvSpPr>
          <p:cNvPr id="16" name="g1-a"/>
          <p:cNvSpPr/>
          <p:nvPr>
            <p:extLst>
              <p:ext uri="{F5677B7D-0D2A-4D9B-9A5C-6D8D7D0E5A5D}">
                <pptd:line encoding="base64url">eyJ2aWV3Qm94IjpbMzgwLDFdLCJwb2ludHMiOiIwLDAgMzgwLDAiLCJjdXJ2ZSI6InNoYXJwIn0</pptd:line>
              </p:ext>
            </p:extLst>
          </p:nvPr>
        </p:nvSpPr>
        <p:spPr>
          <a:xfrm>
            <a:off x="3327400" y="3530600"/>
            <a:ext cx="4826000" cy="12700"/>
          </a:xfrm>
          <a:custGeom>
            <a:avLst/>
            <a:gdLst/>
            <a:ahLst/>
            <a:cxnLst/>
            <a:rect l="l" t="t" r="r" b="b"/>
            <a:pathLst>
              <a:path w="380" h="1">
                <a:moveTo>
                  <a:pt x="0" y="0"/>
                </a:moveTo>
                <a:lnTo>
                  <a:pt x="380" y="0"/>
                </a:lnTo>
              </a:path>
            </a:pathLst>
          </a:custGeom>
          <a:noFill/>
          <a:ln w="19050">
            <a:solidFill>
              <a:srgbClr val="9AA0A6"/>
            </a:solidFill>
            <a:tailEnd type="arrow"/>
          </a:ln>
        </p:spPr>
      </p:sp>
      <p:sp>
        <p:nvSpPr>
          <p:cNvPr id="17" name="g2-bg"/>
          <p:cNvSpPr/>
          <p:nvPr/>
        </p:nvSpPr>
        <p:spPr>
          <a:xfrm>
            <a:off x="1524000" y="4445000"/>
            <a:ext cx="1651000" cy="711200"/>
          </a:xfrm>
          <a:prstGeom prst="rect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18" name="g2-tx"/>
          <p:cNvSpPr txBox="1"/>
          <p:nvPr/>
        </p:nvSpPr>
        <p:spPr>
          <a:xfrm>
            <a:off x="1574800" y="4445000"/>
            <a:ext cx="1549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0000"/>
              </a:lnSpc>
            </a:pPr>
            <a:r>
              <a:rPr lang="en-US" sz="2000" noProof="1" b="1">
                <a:solidFill>
                  <a:srgbClr val="202124"/>
                </a:solidFill>
                <a:latin typeface="MiSans"/>
                <a:ea typeface="MiSans"/>
              </a:rPr>
              <a:t>та нар</a:t>
            </a:r>
            <a:endParaRPr lang="en-US" sz="2000" noProof="1"/>
          </a:p>
        </p:txBody>
      </p:sp>
      <p:sp>
        <p:nvSpPr>
          <p:cNvPr id="19" name="g2-ex"/>
          <p:cNvSpPr txBox="1"/>
          <p:nvPr/>
        </p:nvSpPr>
        <p:spPr>
          <a:xfrm>
            <a:off x="1524000" y="52070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9AA0A6"/>
                </a:solidFill>
                <a:latin typeface="MiSans"/>
                <a:ea typeface="MiSans"/>
              </a:rPr>
              <a:t>a whole class</a:t>
            </a:r>
            <a:endParaRPr lang="en-US" sz="1200" noProof="1"/>
          </a:p>
        </p:txBody>
      </p:sp>
      <p:sp>
        <p:nvSpPr>
          <p:cNvPr id="20" name="g2-a"/>
          <p:cNvSpPr/>
          <p:nvPr>
            <p:extLst>
              <p:ext uri="{F5677B7D-0D2A-4D9B-9A5C-6D8D7D0E5A5D}">
                <pptd:line encoding="base64url">eyJ2aWV3Qm94IjpbMzgwLDFdLCJwb2ludHMiOiIwLDAgMzgwLDAiLCJjdXJ2ZSI6InNoYXJwIn0</pptd:line>
              </p:ext>
            </p:extLst>
          </p:nvPr>
        </p:nvSpPr>
        <p:spPr>
          <a:xfrm>
            <a:off x="3327400" y="4800600"/>
            <a:ext cx="4826000" cy="12700"/>
          </a:xfrm>
          <a:custGeom>
            <a:avLst/>
            <a:gdLst/>
            <a:ahLst/>
            <a:cxnLst/>
            <a:rect l="l" t="t" r="r" b="b"/>
            <a:pathLst>
              <a:path w="380" h="1">
                <a:moveTo>
                  <a:pt x="0" y="0"/>
                </a:moveTo>
                <a:lnTo>
                  <a:pt x="380" y="0"/>
                </a:lnTo>
              </a:path>
            </a:pathLst>
          </a:custGeom>
          <a:noFill/>
          <a:ln w="19050">
            <a:solidFill>
              <a:srgbClr val="9AA0A6"/>
            </a:solidFill>
            <a:tailEnd type="arrow"/>
          </a:ln>
        </p:spPr>
      </p:sp>
      <p:sp>
        <p:nvSpPr>
          <p:cNvPr id="21" name="you-bg"/>
          <p:cNvSpPr/>
          <p:nvPr/>
        </p:nvSpPr>
        <p:spPr>
          <a:xfrm>
            <a:off x="8382000" y="2540000"/>
            <a:ext cx="2413000" cy="1397000"/>
          </a:xfrm>
          <a:prstGeom prst="rect">
            <a:avLst/>
          </a:prstGeom>
          <a:solidFill>
            <a:srgbClr val="0059BA"/>
          </a:solidFill>
          <a:ln>
            <a:noFill/>
          </a:ln>
        </p:spPr>
      </p:sp>
      <p:sp>
        <p:nvSpPr>
          <p:cNvPr id="22" name="you-tx"/>
          <p:cNvSpPr txBox="1"/>
          <p:nvPr/>
        </p:nvSpPr>
        <p:spPr>
          <a:xfrm>
            <a:off x="8432800" y="2540000"/>
            <a:ext cx="2311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0000"/>
              </a:lnSpc>
            </a:pPr>
            <a:r>
              <a:rPr lang="en-US" sz="3400" noProof="1" b="1">
                <a:solidFill>
                  <a:srgbClr val="FFFFFF"/>
                </a:solidFill>
                <a:latin typeface="MiSans"/>
                <a:ea typeface="MiSans"/>
              </a:rPr>
              <a:t>you</a:t>
            </a:r>
            <a:endParaRPr lang="en-US" sz="3400" noProof="1"/>
          </a:p>
        </p:txBody>
      </p:sp>
      <p:sp>
        <p:nvSpPr>
          <p:cNvPr id="23" name="cap"/>
          <p:cNvSpPr txBox="1"/>
          <p:nvPr/>
        </p:nvSpPr>
        <p:spPr>
          <a:xfrm>
            <a:off x="609600" y="58420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30000"/>
              </a:lnSpc>
            </a:pPr>
            <a:r>
              <a:rPr lang="en-US" sz="1450" noProof="1">
                <a:solidFill>
                  <a:srgbClr val="202124"/>
                </a:solidFill>
                <a:latin typeface="MiSans"/>
                <a:ea typeface="MiSans"/>
              </a:rPr>
              <a:t>Politeness comes from other words — like </a:t>
            </a:r>
            <a:r>
              <a:rPr lang="en-US" sz="1450" noProof="1" b="1">
                <a:solidFill>
                  <a:srgbClr val="4285F4"/>
                </a:solidFill>
                <a:latin typeface="MiSans"/>
                <a:ea typeface="MiSans"/>
              </a:rPr>
              <a:t>please</a:t>
            </a:r>
            <a:r>
              <a:rPr lang="en-US" sz="1450" noProof="1">
                <a:solidFill>
                  <a:srgbClr val="202124"/>
                </a:solidFill>
                <a:latin typeface="MiSans"/>
                <a:ea typeface="MiSans"/>
              </a:rPr>
              <a:t>.</a:t>
            </a:r>
            <a:endParaRPr lang="en-US" sz="14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-top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nav-l"/>
          <p:cNvSpPr txBox="1"/>
          <p:nvPr/>
        </p:nvSpPr>
        <p:spPr>
          <a:xfrm>
            <a:off x="609600" y="1651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HML VIDEO LESSONS · GR-003 · SLIDE 6 · ДҮРЭМ · RULE</a:t>
            </a:r>
            <a:endParaRPr lang="en-US" sz="1050" noProof="1"/>
          </a:p>
        </p:txBody>
      </p:sp>
      <p:sp>
        <p:nvSpPr>
          <p:cNvPr id="4" name="nav-r"/>
          <p:cNvSpPr txBox="1"/>
          <p:nvPr/>
        </p:nvSpPr>
        <p:spPr>
          <a:xfrm>
            <a:off x="5080000" y="165100"/>
            <a:ext cx="6502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PERSONAL PRONOUNS</a:t>
            </a:r>
            <a:endParaRPr lang="en-US" sz="1050" noProof="1"/>
          </a:p>
        </p:txBody>
      </p:sp>
      <p:sp>
        <p:nvSpPr>
          <p:cNvPr id="5" name="foot-l"/>
          <p:cNvSpPr txBox="1"/>
          <p:nvPr/>
        </p:nvSpPr>
        <p:spPr>
          <a:xfrm>
            <a:off x="609600" y="6527800"/>
            <a:ext cx="914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00" noProof="1" b="1">
                <a:solidFill>
                  <a:srgbClr val="4285F4"/>
                </a:solidFill>
                <a:latin typeface="MiSans"/>
                <a:ea typeface="MiSans"/>
              </a:rPr>
              <a:t>55 sec</a:t>
            </a: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 · 1 click per column · the most important slide for a Mongolian speaker</a:t>
            </a:r>
            <a:endParaRPr lang="en-US" sz="1000" noProof="1"/>
          </a:p>
        </p:txBody>
      </p:sp>
      <p:sp>
        <p:nvSpPr>
          <p:cNvPr id="6" name="page-n"/>
          <p:cNvSpPr txBox="1"/>
          <p:nvPr/>
        </p:nvSpPr>
        <p:spPr>
          <a:xfrm>
            <a:off x="10922000" y="65278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06 / 10</a:t>
            </a:r>
            <a:endParaRPr lang="en-US" sz="1000" noProof="1"/>
          </a:p>
        </p:txBody>
      </p:sp>
      <p:sp>
        <p:nvSpPr>
          <p:cNvPr id="7" name="s-t"/>
          <p:cNvSpPr txBox="1"/>
          <p:nvPr/>
        </p:nvSpPr>
        <p:spPr>
          <a:xfrm>
            <a:off x="609600" y="508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2700" noProof="1" b="1">
                <a:solidFill>
                  <a:srgbClr val="202124"/>
                </a:solidFill>
                <a:latin typeface="MiSans"/>
                <a:ea typeface="MiSans"/>
              </a:rPr>
              <a:t>English splits тэр into three</a:t>
            </a:r>
            <a:endParaRPr lang="en-US" sz="2700" noProof="1"/>
          </a:p>
        </p:txBody>
      </p:sp>
      <p:sp>
        <p:nvSpPr>
          <p:cNvPr id="8" name="s-t-sub"/>
          <p:cNvSpPr txBox="1"/>
          <p:nvPr/>
        </p:nvSpPr>
        <p:spPr>
          <a:xfrm>
            <a:off x="609600" y="9906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9AA0A6"/>
                </a:solidFill>
                <a:latin typeface="MiSans"/>
                <a:ea typeface="MiSans"/>
              </a:rPr>
              <a:t>Before you say тэр in English, ask: man, woman, or thing?</a:t>
            </a:r>
            <a:endParaRPr lang="en-US" sz="1300" noProof="1"/>
          </a:p>
        </p:txBody>
      </p:sp>
      <p:sp>
        <p:nvSpPr>
          <p:cNvPr id="9" name="ter-bg"/>
          <p:cNvSpPr/>
          <p:nvPr/>
        </p:nvSpPr>
        <p:spPr>
          <a:xfrm>
            <a:off x="609600" y="1524000"/>
            <a:ext cx="1905000" cy="609600"/>
          </a:xfrm>
          <a:prstGeom prst="rect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10" name="ter-tx"/>
          <p:cNvSpPr txBox="1"/>
          <p:nvPr/>
        </p:nvSpPr>
        <p:spPr>
          <a:xfrm>
            <a:off x="660400" y="1524000"/>
            <a:ext cx="1803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0000"/>
              </a:lnSpc>
            </a:pPr>
            <a:r>
              <a:rPr lang="en-US" sz="2200" noProof="1" b="1">
                <a:solidFill>
                  <a:srgbClr val="202124"/>
                </a:solidFill>
                <a:latin typeface="MiSans"/>
                <a:ea typeface="MiSans"/>
              </a:rPr>
              <a:t>тэр</a:t>
            </a:r>
            <a:endParaRPr lang="en-US" sz="2200" noProof="1"/>
          </a:p>
        </p:txBody>
      </p:sp>
      <p:sp>
        <p:nvSpPr>
          <p:cNvPr id="11" name="br"/>
          <p:cNvSpPr/>
          <p:nvPr>
            <p:extLst>
              <p:ext uri="{F5677B7D-0D2A-4D9B-9A5C-6D8D7D0E5A5D}">
                <pptd:line encoding="base64url">eyJ2aWV3Qm94IjpbMzAsMjAwXSwicG9pbnRzIjoiMCwwIDMwLDAgMzAsMjAwIDYwLDIwMCIsImN1cnZlIjoic2hhcnAifQ</pptd:line>
              </p:ext>
            </p:extLst>
          </p:nvPr>
        </p:nvSpPr>
        <p:spPr>
          <a:xfrm>
            <a:off x="2514600" y="1828800"/>
            <a:ext cx="381000" cy="2540000"/>
          </a:xfrm>
          <a:custGeom>
            <a:avLst/>
            <a:gdLst/>
            <a:ahLst/>
            <a:cxnLst/>
            <a:rect l="l" t="t" r="r" b="b"/>
            <a:pathLst>
              <a:path w="30" h="200">
                <a:moveTo>
                  <a:pt x="0" y="0"/>
                </a:moveTo>
                <a:lnTo>
                  <a:pt x="30" y="0"/>
                </a:lnTo>
                <a:lnTo>
                  <a:pt x="30" y="200"/>
                </a:lnTo>
                <a:lnTo>
                  <a:pt x="60" y="200"/>
                </a:lnTo>
              </a:path>
            </a:pathLst>
          </a:custGeom>
          <a:noFill/>
          <a:ln w="19050">
            <a:solidFill>
              <a:srgbClr val="9AA0A6"/>
            </a:solidFill>
          </a:ln>
        </p:spPr>
      </p:sp>
      <p:sp>
        <p:nvSpPr>
          <p:cNvPr id="12" name="ar0"/>
          <p:cNvSpPr/>
          <p:nvPr>
            <p:extLst>
              <p:ext uri="{F5677B7D-0D2A-4D9B-9A5C-6D8D7D0E5A5D}">
                <pptd:line encoding="base64url">eyJ2aWV3Qm94IjpbMTMyLDQ2XSwicG9pbnRzIjoiMCwwIDEzMiwwIiwiY3VydmUiOiJzaGFycCJ9</pptd:line>
              </p:ext>
            </p:extLst>
          </p:nvPr>
        </p:nvSpPr>
        <p:spPr>
          <a:xfrm>
            <a:off x="2895600" y="1828800"/>
            <a:ext cx="1676400" cy="584200"/>
          </a:xfrm>
          <a:custGeom>
            <a:avLst/>
            <a:gdLst/>
            <a:ahLst/>
            <a:cxnLst/>
            <a:rect l="l" t="t" r="r" b="b"/>
            <a:pathLst>
              <a:path w="132" h="46">
                <a:moveTo>
                  <a:pt x="0" y="0"/>
                </a:moveTo>
                <a:lnTo>
                  <a:pt x="132" y="0"/>
                </a:lnTo>
              </a:path>
            </a:pathLst>
          </a:custGeom>
          <a:noFill/>
          <a:ln w="19050">
            <a:solidFill>
              <a:srgbClr val="9AA0A6"/>
            </a:solidFill>
            <a:tailEnd type="arrow"/>
          </a:ln>
        </p:spPr>
      </p:sp>
      <p:sp>
        <p:nvSpPr>
          <p:cNvPr id="13" name="c0-bg"/>
          <p:cNvSpPr/>
          <p:nvPr/>
        </p:nvSpPr>
        <p:spPr>
          <a:xfrm>
            <a:off x="3810000" y="2413000"/>
            <a:ext cx="2413000" cy="3048000"/>
          </a:xfrm>
          <a:prstGeom prst="rect">
            <a:avLst/>
          </a:prstGeom>
          <a:solidFill>
            <a:srgbClr val="EEF4FE"/>
          </a:solidFill>
          <a:ln>
            <a:noFill/>
          </a:ln>
        </p:spPr>
      </p:sp>
      <p:sp>
        <p:nvSpPr>
          <p:cNvPr id="14" name="c0-bar"/>
          <p:cNvSpPr/>
          <p:nvPr/>
        </p:nvSpPr>
        <p:spPr>
          <a:xfrm>
            <a:off x="3810000" y="2413000"/>
            <a:ext cx="2413000" cy="50800"/>
          </a:xfrm>
          <a:prstGeom prst="rect">
            <a:avLst/>
          </a:prstGeom>
          <a:solidFill>
            <a:srgbClr val="0059BA"/>
          </a:solidFill>
          <a:ln>
            <a:noFill/>
          </a:ln>
        </p:spPr>
      </p:sp>
      <p:sp>
        <p:nvSpPr>
          <p:cNvPr id="15" name="c0-ic"/>
          <p:cNvSpPr/>
          <p:nvPr>
            <p:extLst>
              <p:ext uri="{F5677B7D-0D2A-4D9B-9A5C-6D8D7D0E5A5D}">
                <pptd:icon encoding="base64url">eyJpY29uTmFtZSI6ImZhczpwZXJzb24ifQ</pptd:icon>
              </p:ext>
            </p:extLst>
          </p:nvPr>
        </p:nvSpPr>
        <p:spPr>
          <a:xfrm>
            <a:off x="4711700" y="266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48" y="24"/>
                </a:moveTo>
                <a:cubicBezTo>
                  <a:pt x="248" y="-7"/>
                  <a:pt x="223" y="-32"/>
                  <a:pt x="192" y="-32"/>
                </a:cubicBezTo>
                <a:cubicBezTo>
                  <a:pt x="161" y="-32"/>
                  <a:pt x="136" y="-7"/>
                  <a:pt x="136" y="24"/>
                </a:cubicBezTo>
                <a:cubicBezTo>
                  <a:pt x="136" y="55"/>
                  <a:pt x="161" y="80"/>
                  <a:pt x="192" y="80"/>
                </a:cubicBezTo>
                <a:cubicBezTo>
                  <a:pt x="223" y="80"/>
                  <a:pt x="248" y="55"/>
                  <a:pt x="248" y="24"/>
                </a:cubicBezTo>
                <a:close/>
                <a:moveTo>
                  <a:pt x="272" y="237"/>
                </a:moveTo>
                <a:lnTo>
                  <a:pt x="318" y="299"/>
                </a:lnTo>
                <a:cubicBezTo>
                  <a:pt x="329" y="313"/>
                  <a:pt x="349" y="316"/>
                  <a:pt x="363" y="306"/>
                </a:cubicBezTo>
                <a:cubicBezTo>
                  <a:pt x="377" y="295"/>
                  <a:pt x="380" y="275"/>
                  <a:pt x="370" y="261"/>
                </a:cubicBezTo>
                <a:lnTo>
                  <a:pt x="299" y="166"/>
                </a:lnTo>
                <a:cubicBezTo>
                  <a:pt x="274" y="132"/>
                  <a:pt x="234" y="112"/>
                  <a:pt x="192" y="112"/>
                </a:cubicBezTo>
                <a:cubicBezTo>
                  <a:pt x="150" y="112"/>
                  <a:pt x="110" y="132"/>
                  <a:pt x="85" y="166"/>
                </a:cubicBezTo>
                <a:lnTo>
                  <a:pt x="14" y="261"/>
                </a:lnTo>
                <a:cubicBezTo>
                  <a:pt x="4" y="275"/>
                  <a:pt x="7" y="295"/>
                  <a:pt x="21" y="306"/>
                </a:cubicBezTo>
                <a:cubicBezTo>
                  <a:pt x="35" y="316"/>
                  <a:pt x="55" y="313"/>
                  <a:pt x="66" y="299"/>
                </a:cubicBezTo>
                <a:lnTo>
                  <a:pt x="112" y="237"/>
                </a:lnTo>
                <a:lnTo>
                  <a:pt x="112" y="512"/>
                </a:lnTo>
                <a:cubicBezTo>
                  <a:pt x="112" y="530"/>
                  <a:pt x="126" y="544"/>
                  <a:pt x="144" y="544"/>
                </a:cubicBezTo>
                <a:cubicBezTo>
                  <a:pt x="162" y="544"/>
                  <a:pt x="176" y="530"/>
                  <a:pt x="176" y="512"/>
                </a:cubicBezTo>
                <a:lnTo>
                  <a:pt x="176" y="352"/>
                </a:lnTo>
                <a:cubicBezTo>
                  <a:pt x="176" y="343"/>
                  <a:pt x="183" y="336"/>
                  <a:pt x="192" y="336"/>
                </a:cubicBezTo>
                <a:cubicBezTo>
                  <a:pt x="201" y="336"/>
                  <a:pt x="208" y="343"/>
                  <a:pt x="208" y="352"/>
                </a:cubicBezTo>
                <a:lnTo>
                  <a:pt x="208" y="512"/>
                </a:lnTo>
                <a:cubicBezTo>
                  <a:pt x="208" y="530"/>
                  <a:pt x="222" y="544"/>
                  <a:pt x="240" y="544"/>
                </a:cubicBezTo>
                <a:cubicBezTo>
                  <a:pt x="258" y="544"/>
                  <a:pt x="272" y="530"/>
                  <a:pt x="272" y="512"/>
                </a:cubicBezTo>
                <a:lnTo>
                  <a:pt x="272" y="237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</p:sp>
      <p:sp>
        <p:nvSpPr>
          <p:cNvPr id="16" name="c0-w"/>
          <p:cNvSpPr txBox="1"/>
          <p:nvPr/>
        </p:nvSpPr>
        <p:spPr>
          <a:xfrm>
            <a:off x="3810000" y="3403600"/>
            <a:ext cx="2413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2400" noProof="1" b="1">
                <a:solidFill>
                  <a:srgbClr val="0059BA"/>
                </a:solidFill>
                <a:latin typeface="MiSans"/>
                <a:ea typeface="MiSans"/>
              </a:rPr>
              <a:t>he</a:t>
            </a:r>
            <a:endParaRPr lang="en-US" sz="2400" noProof="1"/>
          </a:p>
        </p:txBody>
      </p:sp>
      <p:sp>
        <p:nvSpPr>
          <p:cNvPr id="17" name="c0-m"/>
          <p:cNvSpPr txBox="1"/>
          <p:nvPr/>
        </p:nvSpPr>
        <p:spPr>
          <a:xfrm>
            <a:off x="3810000" y="38608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1300" noProof="1">
                <a:solidFill>
                  <a:srgbClr val="9AA0A6"/>
                </a:solidFill>
                <a:latin typeface="MiSans"/>
                <a:ea typeface="MiSans"/>
              </a:rPr>
              <a:t>эрэгтэй хүн</a:t>
            </a:r>
            <a:endParaRPr lang="en-US" sz="1300" noProof="1"/>
          </a:p>
        </p:txBody>
      </p:sp>
      <p:sp>
        <p:nvSpPr>
          <p:cNvPr id="18" name="c0-ex"/>
          <p:cNvSpPr txBox="1"/>
          <p:nvPr/>
        </p:nvSpPr>
        <p:spPr>
          <a:xfrm>
            <a:off x="3962400" y="4267200"/>
            <a:ext cx="21082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350" noProof="1">
                <a:solidFill>
                  <a:srgbClr val="202124"/>
                </a:solidFill>
                <a:latin typeface="MiSans"/>
                <a:ea typeface="MiSans"/>
              </a:rPr>
              <a:t>Bat</a:t>
            </a:r>
            <a:endParaRPr lang="en-US" sz="1350" noProof="1"/>
          </a:p>
          <a:p>
            <a:pPr algn="ctr">
              <a:lnSpc>
                <a:spcPct val="150000"/>
              </a:lnSpc>
            </a:pPr>
            <a:r>
              <a:rPr lang="en-US" sz="1350" noProof="1">
                <a:solidFill>
                  <a:srgbClr val="202124"/>
                </a:solidFill>
                <a:latin typeface="MiSans"/>
                <a:ea typeface="MiSans"/>
              </a:rPr>
              <a:t>my father</a:t>
            </a:r>
            <a:endParaRPr lang="en-US" sz="1350" noProof="1"/>
          </a:p>
          <a:p>
            <a:pPr algn="ctr">
              <a:lnSpc>
                <a:spcPct val="150000"/>
              </a:lnSpc>
            </a:pPr>
            <a:r>
              <a:rPr lang="en-US" sz="1350" noProof="1">
                <a:solidFill>
                  <a:srgbClr val="202124"/>
                </a:solidFill>
                <a:latin typeface="MiSans"/>
                <a:ea typeface="MiSans"/>
              </a:rPr>
              <a:t>my brother</a:t>
            </a:r>
            <a:endParaRPr lang="en-US" sz="1350" noProof="1"/>
          </a:p>
        </p:txBody>
      </p:sp>
      <p:sp>
        <p:nvSpPr>
          <p:cNvPr id="19" name="ar1"/>
          <p:cNvSpPr/>
          <p:nvPr>
            <p:extLst>
              <p:ext uri="{F5677B7D-0D2A-4D9B-9A5C-6D8D7D0E5A5D}">
                <pptd:line encoding="base64url">eyJ2aWV3Qm94IjpbMzUyLDQ2XSwicG9pbnRzIjoiMCwwIDM1MiwwIiwiY3VydmUiOiJzaGFycCJ9</pptd:line>
              </p:ext>
            </p:extLst>
          </p:nvPr>
        </p:nvSpPr>
        <p:spPr>
          <a:xfrm>
            <a:off x="2895600" y="1828800"/>
            <a:ext cx="4470400" cy="584200"/>
          </a:xfrm>
          <a:custGeom>
            <a:avLst/>
            <a:gdLst/>
            <a:ahLst/>
            <a:cxnLst/>
            <a:rect l="l" t="t" r="r" b="b"/>
            <a:pathLst>
              <a:path w="352" h="46">
                <a:moveTo>
                  <a:pt x="0" y="0"/>
                </a:moveTo>
                <a:lnTo>
                  <a:pt x="352" y="0"/>
                </a:lnTo>
              </a:path>
            </a:pathLst>
          </a:custGeom>
          <a:noFill/>
          <a:ln w="19050">
            <a:solidFill>
              <a:srgbClr val="9AA0A6"/>
            </a:solidFill>
            <a:tailEnd type="arrow"/>
          </a:ln>
        </p:spPr>
      </p:sp>
      <p:sp>
        <p:nvSpPr>
          <p:cNvPr id="20" name="c1-bg"/>
          <p:cNvSpPr/>
          <p:nvPr/>
        </p:nvSpPr>
        <p:spPr>
          <a:xfrm>
            <a:off x="6604000" y="2413000"/>
            <a:ext cx="2413000" cy="3048000"/>
          </a:xfrm>
          <a:prstGeom prst="rect">
            <a:avLst/>
          </a:prstGeom>
          <a:solidFill>
            <a:srgbClr val="EEF4FE"/>
          </a:solidFill>
          <a:ln>
            <a:noFill/>
          </a:ln>
        </p:spPr>
      </p:sp>
      <p:sp>
        <p:nvSpPr>
          <p:cNvPr id="21" name="c1-bar"/>
          <p:cNvSpPr/>
          <p:nvPr/>
        </p:nvSpPr>
        <p:spPr>
          <a:xfrm>
            <a:off x="6604000" y="2413000"/>
            <a:ext cx="2413000" cy="50800"/>
          </a:xfrm>
          <a:prstGeom prst="rect">
            <a:avLst/>
          </a:prstGeom>
          <a:solidFill>
            <a:srgbClr val="0059BA"/>
          </a:solidFill>
          <a:ln>
            <a:noFill/>
          </a:ln>
        </p:spPr>
      </p:sp>
      <p:sp>
        <p:nvSpPr>
          <p:cNvPr id="22" name="c1-ic"/>
          <p:cNvSpPr/>
          <p:nvPr>
            <p:extLst>
              <p:ext uri="{F5677B7D-0D2A-4D9B-9A5C-6D8D7D0E5A5D}">
                <pptd:icon encoding="base64url">eyJpY29uTmFtZSI6ImZhczpwZXJzb24tZHJlc3MifQ</pptd:icon>
              </p:ext>
            </p:extLst>
          </p:nvPr>
        </p:nvSpPr>
        <p:spPr>
          <a:xfrm>
            <a:off x="7505700" y="266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36" y="24"/>
                </a:moveTo>
                <a:cubicBezTo>
                  <a:pt x="136" y="-7"/>
                  <a:pt x="161" y="-32"/>
                  <a:pt x="192" y="-32"/>
                </a:cubicBezTo>
                <a:cubicBezTo>
                  <a:pt x="223" y="-32"/>
                  <a:pt x="248" y="-7"/>
                  <a:pt x="248" y="24"/>
                </a:cubicBezTo>
                <a:cubicBezTo>
                  <a:pt x="248" y="55"/>
                  <a:pt x="223" y="80"/>
                  <a:pt x="192" y="80"/>
                </a:cubicBezTo>
                <a:cubicBezTo>
                  <a:pt x="161" y="80"/>
                  <a:pt x="136" y="55"/>
                  <a:pt x="136" y="24"/>
                </a:cubicBezTo>
                <a:close/>
                <a:moveTo>
                  <a:pt x="112" y="384"/>
                </a:moveTo>
                <a:lnTo>
                  <a:pt x="86" y="384"/>
                </a:lnTo>
                <a:cubicBezTo>
                  <a:pt x="75" y="384"/>
                  <a:pt x="68" y="373"/>
                  <a:pt x="71" y="363"/>
                </a:cubicBezTo>
                <a:lnTo>
                  <a:pt x="114" y="234"/>
                </a:lnTo>
                <a:lnTo>
                  <a:pt x="66" y="299"/>
                </a:lnTo>
                <a:cubicBezTo>
                  <a:pt x="55" y="313"/>
                  <a:pt x="35" y="316"/>
                  <a:pt x="21" y="306"/>
                </a:cubicBezTo>
                <a:cubicBezTo>
                  <a:pt x="7" y="295"/>
                  <a:pt x="4" y="275"/>
                  <a:pt x="14" y="261"/>
                </a:cubicBezTo>
                <a:lnTo>
                  <a:pt x="85" y="166"/>
                </a:lnTo>
                <a:cubicBezTo>
                  <a:pt x="110" y="132"/>
                  <a:pt x="150" y="112"/>
                  <a:pt x="192" y="112"/>
                </a:cubicBezTo>
                <a:cubicBezTo>
                  <a:pt x="234" y="112"/>
                  <a:pt x="274" y="132"/>
                  <a:pt x="299" y="166"/>
                </a:cubicBezTo>
                <a:lnTo>
                  <a:pt x="370" y="261"/>
                </a:lnTo>
                <a:cubicBezTo>
                  <a:pt x="380" y="275"/>
                  <a:pt x="377" y="295"/>
                  <a:pt x="363" y="306"/>
                </a:cubicBezTo>
                <a:cubicBezTo>
                  <a:pt x="349" y="316"/>
                  <a:pt x="329" y="313"/>
                  <a:pt x="318" y="299"/>
                </a:cubicBezTo>
                <a:lnTo>
                  <a:pt x="270" y="234"/>
                </a:lnTo>
                <a:lnTo>
                  <a:pt x="313" y="363"/>
                </a:lnTo>
                <a:cubicBezTo>
                  <a:pt x="317" y="373"/>
                  <a:pt x="309" y="384"/>
                  <a:pt x="298" y="384"/>
                </a:cubicBezTo>
                <a:lnTo>
                  <a:pt x="272" y="384"/>
                </a:lnTo>
                <a:lnTo>
                  <a:pt x="272" y="512"/>
                </a:lnTo>
                <a:cubicBezTo>
                  <a:pt x="272" y="530"/>
                  <a:pt x="258" y="544"/>
                  <a:pt x="240" y="544"/>
                </a:cubicBezTo>
                <a:cubicBezTo>
                  <a:pt x="222" y="544"/>
                  <a:pt x="208" y="530"/>
                  <a:pt x="208" y="512"/>
                </a:cubicBezTo>
                <a:lnTo>
                  <a:pt x="208" y="384"/>
                </a:lnTo>
                <a:lnTo>
                  <a:pt x="176" y="384"/>
                </a:lnTo>
                <a:lnTo>
                  <a:pt x="176" y="512"/>
                </a:lnTo>
                <a:cubicBezTo>
                  <a:pt x="176" y="530"/>
                  <a:pt x="162" y="544"/>
                  <a:pt x="144" y="544"/>
                </a:cubicBezTo>
                <a:cubicBezTo>
                  <a:pt x="126" y="544"/>
                  <a:pt x="112" y="530"/>
                  <a:pt x="112" y="512"/>
                </a:cubicBezTo>
                <a:lnTo>
                  <a:pt x="112" y="384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</p:sp>
      <p:sp>
        <p:nvSpPr>
          <p:cNvPr id="23" name="c1-w"/>
          <p:cNvSpPr txBox="1"/>
          <p:nvPr/>
        </p:nvSpPr>
        <p:spPr>
          <a:xfrm>
            <a:off x="6604000" y="3403600"/>
            <a:ext cx="2413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2400" noProof="1" b="1">
                <a:solidFill>
                  <a:srgbClr val="0059BA"/>
                </a:solidFill>
                <a:latin typeface="MiSans"/>
                <a:ea typeface="MiSans"/>
              </a:rPr>
              <a:t>she</a:t>
            </a:r>
            <a:endParaRPr lang="en-US" sz="2400" noProof="1"/>
          </a:p>
        </p:txBody>
      </p:sp>
      <p:sp>
        <p:nvSpPr>
          <p:cNvPr id="24" name="c1-m"/>
          <p:cNvSpPr txBox="1"/>
          <p:nvPr/>
        </p:nvSpPr>
        <p:spPr>
          <a:xfrm>
            <a:off x="6604000" y="38608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1300" noProof="1">
                <a:solidFill>
                  <a:srgbClr val="9AA0A6"/>
                </a:solidFill>
                <a:latin typeface="MiSans"/>
                <a:ea typeface="MiSans"/>
              </a:rPr>
              <a:t>эмэгтэй хүн</a:t>
            </a:r>
            <a:endParaRPr lang="en-US" sz="1300" noProof="1"/>
          </a:p>
        </p:txBody>
      </p:sp>
      <p:sp>
        <p:nvSpPr>
          <p:cNvPr id="25" name="c1-ex"/>
          <p:cNvSpPr txBox="1"/>
          <p:nvPr/>
        </p:nvSpPr>
        <p:spPr>
          <a:xfrm>
            <a:off x="6756400" y="4267200"/>
            <a:ext cx="21082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350" noProof="1">
                <a:solidFill>
                  <a:srgbClr val="202124"/>
                </a:solidFill>
                <a:latin typeface="MiSans"/>
                <a:ea typeface="MiSans"/>
              </a:rPr>
              <a:t>Saraa</a:t>
            </a:r>
            <a:endParaRPr lang="en-US" sz="1350" noProof="1"/>
          </a:p>
          <a:p>
            <a:pPr algn="ctr">
              <a:lnSpc>
                <a:spcPct val="150000"/>
              </a:lnSpc>
            </a:pPr>
            <a:r>
              <a:rPr lang="en-US" sz="1350" noProof="1">
                <a:solidFill>
                  <a:srgbClr val="202124"/>
                </a:solidFill>
                <a:latin typeface="MiSans"/>
                <a:ea typeface="MiSans"/>
              </a:rPr>
              <a:t>my mother</a:t>
            </a:r>
            <a:endParaRPr lang="en-US" sz="1350" noProof="1"/>
          </a:p>
          <a:p>
            <a:pPr algn="ctr">
              <a:lnSpc>
                <a:spcPct val="150000"/>
              </a:lnSpc>
            </a:pPr>
            <a:r>
              <a:rPr lang="en-US" sz="1350" noProof="1">
                <a:solidFill>
                  <a:srgbClr val="202124"/>
                </a:solidFill>
                <a:latin typeface="MiSans"/>
                <a:ea typeface="MiSans"/>
              </a:rPr>
              <a:t>my sister</a:t>
            </a:r>
            <a:endParaRPr lang="en-US" sz="1350" noProof="1"/>
          </a:p>
        </p:txBody>
      </p:sp>
      <p:sp>
        <p:nvSpPr>
          <p:cNvPr id="26" name="ar2"/>
          <p:cNvSpPr/>
          <p:nvPr>
            <p:extLst>
              <p:ext uri="{F5677B7D-0D2A-4D9B-9A5C-6D8D7D0E5A5D}">
                <pptd:line encoding="base64url">eyJ2aWV3Qm94IjpbNTcyLDQ2XSwicG9pbnRzIjoiMCwwIDU3MiwwIiwiY3VydmUiOiJzaGFycCJ9</pptd:line>
              </p:ext>
            </p:extLst>
          </p:nvPr>
        </p:nvSpPr>
        <p:spPr>
          <a:xfrm>
            <a:off x="2895600" y="1828800"/>
            <a:ext cx="7264400" cy="584200"/>
          </a:xfrm>
          <a:custGeom>
            <a:avLst/>
            <a:gdLst/>
            <a:ahLst/>
            <a:cxnLst/>
            <a:rect l="l" t="t" r="r" b="b"/>
            <a:pathLst>
              <a:path w="572" h="46">
                <a:moveTo>
                  <a:pt x="0" y="0"/>
                </a:moveTo>
                <a:lnTo>
                  <a:pt x="572" y="0"/>
                </a:lnTo>
              </a:path>
            </a:pathLst>
          </a:custGeom>
          <a:noFill/>
          <a:ln w="19050">
            <a:solidFill>
              <a:srgbClr val="9AA0A6"/>
            </a:solidFill>
            <a:tailEnd type="arrow"/>
          </a:ln>
        </p:spPr>
      </p:sp>
      <p:sp>
        <p:nvSpPr>
          <p:cNvPr id="27" name="c2-bg"/>
          <p:cNvSpPr/>
          <p:nvPr/>
        </p:nvSpPr>
        <p:spPr>
          <a:xfrm>
            <a:off x="9398000" y="2413000"/>
            <a:ext cx="2413000" cy="3048000"/>
          </a:xfrm>
          <a:prstGeom prst="rect">
            <a:avLst/>
          </a:prstGeom>
          <a:solidFill>
            <a:srgbClr val="EEF4FE"/>
          </a:solidFill>
          <a:ln>
            <a:noFill/>
          </a:ln>
        </p:spPr>
      </p:sp>
      <p:sp>
        <p:nvSpPr>
          <p:cNvPr id="28" name="c2-bar"/>
          <p:cNvSpPr/>
          <p:nvPr/>
        </p:nvSpPr>
        <p:spPr>
          <a:xfrm>
            <a:off x="9398000" y="2413000"/>
            <a:ext cx="2413000" cy="50800"/>
          </a:xfrm>
          <a:prstGeom prst="rect">
            <a:avLst/>
          </a:prstGeom>
          <a:solidFill>
            <a:srgbClr val="0059BA"/>
          </a:solidFill>
          <a:ln>
            <a:noFill/>
          </a:ln>
        </p:spPr>
      </p:sp>
      <p:sp>
        <p:nvSpPr>
          <p:cNvPr id="29" name="c2-ic"/>
          <p:cNvSpPr/>
          <p:nvPr>
            <p:extLst>
              <p:ext uri="{F5677B7D-0D2A-4D9B-9A5C-6D8D7D0E5A5D}">
                <pptd:icon encoding="base64url">eyJpY29uTmFtZSI6ImZhczpjdWJlIn0</pptd:icon>
              </p:ext>
            </p:extLst>
          </p:nvPr>
        </p:nvSpPr>
        <p:spPr>
          <a:xfrm>
            <a:off x="10299700" y="266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-2"/>
                </a:moveTo>
                <a:cubicBezTo>
                  <a:pt x="244" y="-14"/>
                  <a:pt x="269" y="-14"/>
                  <a:pt x="288" y="-2"/>
                </a:cubicBezTo>
                <a:lnTo>
                  <a:pt x="464" y="99"/>
                </a:lnTo>
                <a:cubicBezTo>
                  <a:pt x="484" y="110"/>
                  <a:pt x="496" y="132"/>
                  <a:pt x="496" y="154"/>
                </a:cubicBezTo>
                <a:lnTo>
                  <a:pt x="496" y="357"/>
                </a:lnTo>
                <a:cubicBezTo>
                  <a:pt x="496" y="380"/>
                  <a:pt x="484" y="401"/>
                  <a:pt x="464" y="413"/>
                </a:cubicBezTo>
                <a:lnTo>
                  <a:pt x="288" y="515"/>
                </a:lnTo>
                <a:cubicBezTo>
                  <a:pt x="269" y="526"/>
                  <a:pt x="244" y="526"/>
                  <a:pt x="224" y="515"/>
                </a:cubicBezTo>
                <a:lnTo>
                  <a:pt x="49" y="413"/>
                </a:lnTo>
                <a:cubicBezTo>
                  <a:pt x="29" y="402"/>
                  <a:pt x="17" y="380"/>
                  <a:pt x="17" y="358"/>
                </a:cubicBezTo>
                <a:lnTo>
                  <a:pt x="17" y="155"/>
                </a:lnTo>
                <a:cubicBezTo>
                  <a:pt x="17" y="132"/>
                  <a:pt x="29" y="111"/>
                  <a:pt x="49" y="99"/>
                </a:cubicBezTo>
                <a:lnTo>
                  <a:pt x="224" y="-2"/>
                </a:lnTo>
                <a:close/>
                <a:moveTo>
                  <a:pt x="432" y="358"/>
                </a:moveTo>
                <a:lnTo>
                  <a:pt x="432" y="191"/>
                </a:lnTo>
                <a:lnTo>
                  <a:pt x="288" y="274"/>
                </a:lnTo>
                <a:lnTo>
                  <a:pt x="288" y="441"/>
                </a:lnTo>
                <a:lnTo>
                  <a:pt x="432" y="358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</p:sp>
      <p:sp>
        <p:nvSpPr>
          <p:cNvPr id="30" name="c2-w"/>
          <p:cNvSpPr txBox="1"/>
          <p:nvPr/>
        </p:nvSpPr>
        <p:spPr>
          <a:xfrm>
            <a:off x="9398000" y="3403600"/>
            <a:ext cx="2413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2400" noProof="1" b="1">
                <a:solidFill>
                  <a:srgbClr val="0059BA"/>
                </a:solidFill>
                <a:latin typeface="MiSans"/>
                <a:ea typeface="MiSans"/>
              </a:rPr>
              <a:t>it</a:t>
            </a:r>
            <a:endParaRPr lang="en-US" sz="2400" noProof="1"/>
          </a:p>
        </p:txBody>
      </p:sp>
      <p:sp>
        <p:nvSpPr>
          <p:cNvPr id="31" name="c2-m"/>
          <p:cNvSpPr txBox="1"/>
          <p:nvPr/>
        </p:nvSpPr>
        <p:spPr>
          <a:xfrm>
            <a:off x="9398000" y="38608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1300" noProof="1">
                <a:solidFill>
                  <a:srgbClr val="9AA0A6"/>
                </a:solidFill>
                <a:latin typeface="MiSans"/>
                <a:ea typeface="MiSans"/>
              </a:rPr>
              <a:t>юм, газар, амьтан</a:t>
            </a:r>
            <a:endParaRPr lang="en-US" sz="1300" noProof="1"/>
          </a:p>
        </p:txBody>
      </p:sp>
      <p:sp>
        <p:nvSpPr>
          <p:cNvPr id="32" name="c2-ex"/>
          <p:cNvSpPr txBox="1"/>
          <p:nvPr/>
        </p:nvSpPr>
        <p:spPr>
          <a:xfrm>
            <a:off x="9550400" y="4267200"/>
            <a:ext cx="21082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350" noProof="1">
                <a:solidFill>
                  <a:srgbClr val="202124"/>
                </a:solidFill>
                <a:latin typeface="MiSans"/>
                <a:ea typeface="MiSans"/>
              </a:rPr>
              <a:t>my phone</a:t>
            </a:r>
            <a:endParaRPr lang="en-US" sz="1350" noProof="1"/>
          </a:p>
          <a:p>
            <a:pPr algn="ctr">
              <a:lnSpc>
                <a:spcPct val="150000"/>
              </a:lnSpc>
            </a:pPr>
            <a:r>
              <a:rPr lang="en-US" sz="1350" noProof="1">
                <a:solidFill>
                  <a:srgbClr val="202124"/>
                </a:solidFill>
                <a:latin typeface="MiSans"/>
                <a:ea typeface="MiSans"/>
              </a:rPr>
              <a:t>the school</a:t>
            </a:r>
            <a:endParaRPr lang="en-US" sz="1350" noProof="1"/>
          </a:p>
          <a:p>
            <a:pPr algn="ctr">
              <a:lnSpc>
                <a:spcPct val="150000"/>
              </a:lnSpc>
            </a:pPr>
            <a:r>
              <a:rPr lang="en-US" sz="1350" noProof="1">
                <a:solidFill>
                  <a:srgbClr val="202124"/>
                </a:solidFill>
                <a:latin typeface="MiSans"/>
                <a:ea typeface="MiSans"/>
              </a:rPr>
              <a:t>my cat</a:t>
            </a:r>
            <a:endParaRPr lang="en-US" sz="1350" noProof="1"/>
          </a:p>
        </p:txBody>
      </p:sp>
      <p:sp>
        <p:nvSpPr>
          <p:cNvPr id="33" name="ask"/>
          <p:cNvSpPr txBox="1"/>
          <p:nvPr/>
        </p:nvSpPr>
        <p:spPr>
          <a:xfrm>
            <a:off x="609600" y="57404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30000"/>
              </a:lnSpc>
            </a:pPr>
            <a:r>
              <a:rPr lang="en-US" sz="1450" noProof="1">
                <a:solidFill>
                  <a:srgbClr val="202124"/>
                </a:solidFill>
                <a:latin typeface="MiSans"/>
                <a:ea typeface="MiSans"/>
              </a:rPr>
              <a:t>Man, woman, or thing? — that one question decides </a:t>
            </a:r>
            <a:r>
              <a:rPr lang="en-US" sz="1450" noProof="1" b="1">
                <a:solidFill>
                  <a:srgbClr val="4285F4"/>
                </a:solidFill>
                <a:latin typeface="MiSans"/>
                <a:ea typeface="MiSans"/>
              </a:rPr>
              <a:t>he</a:t>
            </a:r>
            <a:r>
              <a:rPr lang="en-US" sz="1450" noProof="1">
                <a:solidFill>
                  <a:srgbClr val="202124"/>
                </a:solidFill>
                <a:latin typeface="MiSans"/>
                <a:ea typeface="MiSans"/>
              </a:rPr>
              <a:t>, </a:t>
            </a:r>
            <a:r>
              <a:rPr lang="en-US" sz="1450" noProof="1" b="1">
                <a:solidFill>
                  <a:srgbClr val="4285F4"/>
                </a:solidFill>
                <a:latin typeface="MiSans"/>
                <a:ea typeface="MiSans"/>
              </a:rPr>
              <a:t>she</a:t>
            </a:r>
            <a:r>
              <a:rPr lang="en-US" sz="1450" noProof="1">
                <a:solidFill>
                  <a:srgbClr val="202124"/>
                </a:solidFill>
                <a:latin typeface="MiSans"/>
                <a:ea typeface="MiSans"/>
              </a:rPr>
              <a:t> or </a:t>
            </a:r>
            <a:r>
              <a:rPr lang="en-US" sz="1450" noProof="1" b="1">
                <a:solidFill>
                  <a:srgbClr val="4285F4"/>
                </a:solidFill>
                <a:latin typeface="MiSans"/>
                <a:ea typeface="MiSans"/>
              </a:rPr>
              <a:t>it</a:t>
            </a:r>
            <a:r>
              <a:rPr lang="en-US" sz="1450" noProof="1">
                <a:solidFill>
                  <a:srgbClr val="202124"/>
                </a:solidFill>
                <a:latin typeface="MiSans"/>
                <a:ea typeface="MiSans"/>
              </a:rPr>
              <a:t>.</a:t>
            </a:r>
            <a:endParaRPr lang="en-US" sz="14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-top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nav-l"/>
          <p:cNvSpPr txBox="1"/>
          <p:nvPr/>
        </p:nvSpPr>
        <p:spPr>
          <a:xfrm>
            <a:off x="609600" y="1651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HML VIDEO LESSONS · GR-003 · SLIDE 7 · ДҮРЭМ · RULE</a:t>
            </a:r>
            <a:endParaRPr lang="en-US" sz="1050" noProof="1"/>
          </a:p>
        </p:txBody>
      </p:sp>
      <p:sp>
        <p:nvSpPr>
          <p:cNvPr id="4" name="nav-r"/>
          <p:cNvSpPr txBox="1"/>
          <p:nvPr/>
        </p:nvSpPr>
        <p:spPr>
          <a:xfrm>
            <a:off x="5080000" y="165100"/>
            <a:ext cx="6502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PERSONAL PRONOUNS</a:t>
            </a:r>
            <a:endParaRPr lang="en-US" sz="1050" noProof="1"/>
          </a:p>
        </p:txBody>
      </p:sp>
      <p:sp>
        <p:nvSpPr>
          <p:cNvPr id="5" name="foot-l"/>
          <p:cNvSpPr txBox="1"/>
          <p:nvPr/>
        </p:nvSpPr>
        <p:spPr>
          <a:xfrm>
            <a:off x="609600" y="6527800"/>
            <a:ext cx="914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00" noProof="1" b="1">
                <a:solidFill>
                  <a:srgbClr val="4285F4"/>
                </a:solidFill>
                <a:latin typeface="MiSans"/>
                <a:ea typeface="MiSans"/>
              </a:rPr>
              <a:t>40 sec</a:t>
            </a: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 · 1 click per panel</a:t>
            </a:r>
            <a:endParaRPr lang="en-US" sz="1000" noProof="1"/>
          </a:p>
        </p:txBody>
      </p:sp>
      <p:sp>
        <p:nvSpPr>
          <p:cNvPr id="6" name="page-n"/>
          <p:cNvSpPr txBox="1"/>
          <p:nvPr/>
        </p:nvSpPr>
        <p:spPr>
          <a:xfrm>
            <a:off x="10922000" y="65278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07 / 10</a:t>
            </a:r>
            <a:endParaRPr lang="en-US" sz="1000" noProof="1"/>
          </a:p>
        </p:txBody>
      </p:sp>
      <p:sp>
        <p:nvSpPr>
          <p:cNvPr id="7" name="s-t"/>
          <p:cNvSpPr txBox="1"/>
          <p:nvPr/>
        </p:nvSpPr>
        <p:spPr>
          <a:xfrm>
            <a:off x="609600" y="508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2700" noProof="1" b="1">
                <a:solidFill>
                  <a:srgbClr val="202124"/>
                </a:solidFill>
                <a:latin typeface="MiSans"/>
                <a:ea typeface="MiSans"/>
              </a:rPr>
              <a:t>Two rules English never breaks</a:t>
            </a:r>
            <a:endParaRPr lang="en-US" sz="2700" noProof="1"/>
          </a:p>
        </p:txBody>
      </p:sp>
      <p:sp>
        <p:nvSpPr>
          <p:cNvPr id="8" name="p0-bg"/>
          <p:cNvSpPr/>
          <p:nvPr/>
        </p:nvSpPr>
        <p:spPr>
          <a:xfrm>
            <a:off x="609600" y="1498600"/>
            <a:ext cx="5384800" cy="4445000"/>
          </a:xfrm>
          <a:prstGeom prst="rect">
            <a:avLst/>
          </a:prstGeom>
          <a:solidFill>
            <a:srgbClr val="EEF4FE"/>
          </a:solidFill>
          <a:ln>
            <a:noFill/>
          </a:ln>
        </p:spPr>
      </p:sp>
      <p:sp>
        <p:nvSpPr>
          <p:cNvPr id="9" name="p0-bar"/>
          <p:cNvSpPr/>
          <p:nvPr/>
        </p:nvSpPr>
        <p:spPr>
          <a:xfrm>
            <a:off x="609600" y="1498600"/>
            <a:ext cx="5384800" cy="50800"/>
          </a:xfrm>
          <a:prstGeom prst="rect">
            <a:avLst/>
          </a:prstGeom>
          <a:solidFill>
            <a:srgbClr val="0059BA"/>
          </a:solidFill>
          <a:ln>
            <a:noFill/>
          </a:ln>
        </p:spPr>
      </p:sp>
      <p:sp>
        <p:nvSpPr>
          <p:cNvPr id="10" name="p0-h"/>
          <p:cNvSpPr txBox="1"/>
          <p:nvPr/>
        </p:nvSpPr>
        <p:spPr>
          <a:xfrm>
            <a:off x="838200" y="1676400"/>
            <a:ext cx="4927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500" noProof="1" b="1">
                <a:solidFill>
                  <a:srgbClr val="0059BA"/>
                </a:solidFill>
                <a:latin typeface="MiSans"/>
                <a:ea typeface="MiSans"/>
              </a:rPr>
              <a:t>I = үргэлж том үсгээр</a:t>
            </a:r>
            <a:endParaRPr lang="en-US" sz="1500" noProof="1"/>
          </a:p>
        </p:txBody>
      </p:sp>
      <p:sp>
        <p:nvSpPr>
          <p:cNvPr id="11" name="p0-0"/>
          <p:cNvSpPr txBox="1"/>
          <p:nvPr/>
        </p:nvSpPr>
        <p:spPr>
          <a:xfrm>
            <a:off x="838200" y="2159000"/>
            <a:ext cx="4927600" cy="8318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500" noProof="1" b="1">
                <a:solidFill>
                  <a:srgbClr val="4285F4"/>
                </a:solidFill>
                <a:latin typeface="MiSans"/>
                <a:ea typeface="MiSans"/>
              </a:rPr>
              <a:t>I</a:t>
            </a:r>
            <a:r>
              <a:rPr lang="en-US" sz="1500" noProof="1">
                <a:solidFill>
                  <a:srgbClr val="202124"/>
                </a:solidFill>
                <a:latin typeface="MiSans"/>
                <a:ea typeface="MiSans"/>
              </a:rPr>
              <a:t> am a student.</a:t>
            </a:r>
            <a:endParaRPr lang="en-US" sz="1500" noProof="1"/>
          </a:p>
        </p:txBody>
      </p:sp>
      <p:sp>
        <p:nvSpPr>
          <p:cNvPr id="12" name="p0-1"/>
          <p:cNvSpPr txBox="1"/>
          <p:nvPr/>
        </p:nvSpPr>
        <p:spPr>
          <a:xfrm>
            <a:off x="838200" y="3067050"/>
            <a:ext cx="4927600" cy="8318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500" noProof="1">
                <a:solidFill>
                  <a:srgbClr val="202124"/>
                </a:solidFill>
                <a:latin typeface="MiSans"/>
                <a:ea typeface="MiSans"/>
              </a:rPr>
              <a:t>Today </a:t>
            </a:r>
            <a:r>
              <a:rPr lang="en-US" sz="1500" noProof="1" b="1">
                <a:solidFill>
                  <a:srgbClr val="4285F4"/>
                </a:solidFill>
                <a:latin typeface="MiSans"/>
                <a:ea typeface="MiSans"/>
              </a:rPr>
              <a:t>I</a:t>
            </a:r>
            <a:r>
              <a:rPr lang="en-US" sz="1500" noProof="1">
                <a:solidFill>
                  <a:srgbClr val="202124"/>
                </a:solidFill>
                <a:latin typeface="MiSans"/>
                <a:ea typeface="MiSans"/>
              </a:rPr>
              <a:t> am tired.</a:t>
            </a:r>
            <a:endParaRPr lang="en-US" sz="1500" noProof="1"/>
          </a:p>
        </p:txBody>
      </p:sp>
      <p:sp>
        <p:nvSpPr>
          <p:cNvPr id="13" name="p0-2"/>
          <p:cNvSpPr txBox="1"/>
          <p:nvPr/>
        </p:nvSpPr>
        <p:spPr>
          <a:xfrm>
            <a:off x="838200" y="3975100"/>
            <a:ext cx="4927600" cy="8318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500" noProof="1">
                <a:solidFill>
                  <a:srgbClr val="202124"/>
                </a:solidFill>
                <a:latin typeface="MiSans"/>
                <a:ea typeface="MiSans"/>
              </a:rPr>
              <a:t>Bat and </a:t>
            </a:r>
            <a:r>
              <a:rPr lang="en-US" sz="1500" noProof="1" b="1">
                <a:solidFill>
                  <a:srgbClr val="4285F4"/>
                </a:solidFill>
                <a:latin typeface="MiSans"/>
                <a:ea typeface="MiSans"/>
              </a:rPr>
              <a:t>I</a:t>
            </a:r>
            <a:r>
              <a:rPr lang="en-US" sz="1500" noProof="1">
                <a:solidFill>
                  <a:srgbClr val="202124"/>
                </a:solidFill>
                <a:latin typeface="MiSans"/>
                <a:ea typeface="MiSans"/>
              </a:rPr>
              <a:t> are friends.</a:t>
            </a:r>
            <a:endParaRPr lang="en-US" sz="1500" noProof="1"/>
          </a:p>
        </p:txBody>
      </p:sp>
      <p:sp>
        <p:nvSpPr>
          <p:cNvPr id="14" name="p0-3"/>
          <p:cNvSpPr txBox="1"/>
          <p:nvPr/>
        </p:nvSpPr>
        <p:spPr>
          <a:xfrm>
            <a:off x="838200" y="4883150"/>
            <a:ext cx="4927600" cy="8318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500" noProof="1">
                <a:solidFill>
                  <a:srgbClr val="9AA0A6"/>
                </a:solidFill>
                <a:latin typeface="MiSans"/>
                <a:ea typeface="MiSans"/>
              </a:rPr>
              <a:t>No other pronoun does this — capital I everywhere.</a:t>
            </a:r>
            <a:endParaRPr lang="en-US" sz="1500" noProof="1"/>
          </a:p>
        </p:txBody>
      </p:sp>
      <p:sp>
        <p:nvSpPr>
          <p:cNvPr id="15" name="p1-bg"/>
          <p:cNvSpPr/>
          <p:nvPr/>
        </p:nvSpPr>
        <p:spPr>
          <a:xfrm>
            <a:off x="6197600" y="1498600"/>
            <a:ext cx="5384800" cy="4445000"/>
          </a:xfrm>
          <a:prstGeom prst="rect">
            <a:avLst/>
          </a:prstGeom>
          <a:solidFill>
            <a:srgbClr val="EEF4FE"/>
          </a:solidFill>
          <a:ln>
            <a:noFill/>
          </a:ln>
        </p:spPr>
      </p:sp>
      <p:sp>
        <p:nvSpPr>
          <p:cNvPr id="16" name="p1-bar"/>
          <p:cNvSpPr/>
          <p:nvPr/>
        </p:nvSpPr>
        <p:spPr>
          <a:xfrm>
            <a:off x="6197600" y="1498600"/>
            <a:ext cx="5384800" cy="50800"/>
          </a:xfrm>
          <a:prstGeom prst="rect">
            <a:avLst/>
          </a:prstGeom>
          <a:solidFill>
            <a:srgbClr val="0059BA"/>
          </a:solidFill>
          <a:ln>
            <a:noFill/>
          </a:ln>
        </p:spPr>
      </p:sp>
      <p:sp>
        <p:nvSpPr>
          <p:cNvPr id="17" name="p1-h"/>
          <p:cNvSpPr txBox="1"/>
          <p:nvPr/>
        </p:nvSpPr>
        <p:spPr>
          <a:xfrm>
            <a:off x="6426200" y="1676400"/>
            <a:ext cx="4927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500" noProof="1" b="1">
                <a:solidFill>
                  <a:srgbClr val="0059BA"/>
                </a:solidFill>
                <a:latin typeface="MiSans"/>
                <a:ea typeface="MiSans"/>
              </a:rPr>
              <a:t>English always needs a subject</a:t>
            </a:r>
            <a:endParaRPr lang="en-US" sz="1500" noProof="1"/>
          </a:p>
        </p:txBody>
      </p:sp>
      <p:sp>
        <p:nvSpPr>
          <p:cNvPr id="18" name="p1-0"/>
          <p:cNvSpPr txBox="1"/>
          <p:nvPr/>
        </p:nvSpPr>
        <p:spPr>
          <a:xfrm>
            <a:off x="6426200" y="2159000"/>
            <a:ext cx="4927600" cy="8318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500" noProof="1">
                <a:solidFill>
                  <a:srgbClr val="202124"/>
                </a:solidFill>
                <a:latin typeface="MiSans"/>
                <a:ea typeface="MiSans"/>
              </a:rPr>
              <a:t>Хүйтэн байна. → </a:t>
            </a:r>
            <a:r>
              <a:rPr lang="en-US" sz="1500" noProof="1" b="1">
                <a:solidFill>
                  <a:srgbClr val="4285F4"/>
                </a:solidFill>
                <a:latin typeface="MiSans"/>
                <a:ea typeface="MiSans"/>
              </a:rPr>
              <a:t>It</a:t>
            </a:r>
            <a:r>
              <a:rPr lang="en-US" sz="1500" noProof="1">
                <a:solidFill>
                  <a:srgbClr val="202124"/>
                </a:solidFill>
                <a:latin typeface="MiSans"/>
                <a:ea typeface="MiSans"/>
              </a:rPr>
              <a:t> is cold.</a:t>
            </a:r>
            <a:endParaRPr lang="en-US" sz="1500" noProof="1"/>
          </a:p>
        </p:txBody>
      </p:sp>
      <p:sp>
        <p:nvSpPr>
          <p:cNvPr id="19" name="p1-1"/>
          <p:cNvSpPr txBox="1"/>
          <p:nvPr/>
        </p:nvSpPr>
        <p:spPr>
          <a:xfrm>
            <a:off x="6426200" y="3067050"/>
            <a:ext cx="4927600" cy="8318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500" noProof="1">
                <a:solidFill>
                  <a:srgbClr val="202124"/>
                </a:solidFill>
                <a:latin typeface="MiSans"/>
                <a:ea typeface="MiSans"/>
              </a:rPr>
              <a:t>12 настай. → </a:t>
            </a:r>
            <a:r>
              <a:rPr lang="en-US" sz="1500" noProof="1" b="1">
                <a:solidFill>
                  <a:srgbClr val="4285F4"/>
                </a:solidFill>
                <a:latin typeface="MiSans"/>
                <a:ea typeface="MiSans"/>
              </a:rPr>
              <a:t>He</a:t>
            </a:r>
            <a:r>
              <a:rPr lang="en-US" sz="1500" noProof="1">
                <a:solidFill>
                  <a:srgbClr val="202124"/>
                </a:solidFill>
                <a:latin typeface="MiSans"/>
                <a:ea typeface="MiSans"/>
              </a:rPr>
              <a:t> is 12.</a:t>
            </a:r>
            <a:endParaRPr lang="en-US" sz="1500" noProof="1"/>
          </a:p>
        </p:txBody>
      </p:sp>
      <p:sp>
        <p:nvSpPr>
          <p:cNvPr id="20" name="p1-2"/>
          <p:cNvSpPr txBox="1"/>
          <p:nvPr/>
        </p:nvSpPr>
        <p:spPr>
          <a:xfrm>
            <a:off x="6426200" y="3975100"/>
            <a:ext cx="4927600" cy="8318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500" noProof="1">
                <a:solidFill>
                  <a:srgbClr val="9AA0A6"/>
                </a:solidFill>
                <a:latin typeface="MiSans"/>
                <a:ea typeface="MiSans"/>
              </a:rPr>
              <a:t>Mongolian drops the subject freely — English never does.</a:t>
            </a:r>
            <a:endParaRPr lang="en-US" sz="1500" noProof="1"/>
          </a:p>
        </p:txBody>
      </p:sp>
      <p:sp>
        <p:nvSpPr>
          <p:cNvPr id="21" name="p1-3"/>
          <p:cNvSpPr txBox="1"/>
          <p:nvPr/>
        </p:nvSpPr>
        <p:spPr>
          <a:xfrm>
            <a:off x="6426200" y="4883150"/>
            <a:ext cx="4927600" cy="8318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500" noProof="1">
                <a:solidFill>
                  <a:srgbClr val="9AA0A6"/>
                </a:solidFill>
                <a:latin typeface="MiSans"/>
                <a:ea typeface="MiSans"/>
              </a:rPr>
              <a:t>Even the weather gets a subject.</a:t>
            </a:r>
            <a:endParaRPr lang="en-US" sz="15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-top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nav-l"/>
          <p:cNvSpPr txBox="1"/>
          <p:nvPr/>
        </p:nvSpPr>
        <p:spPr>
          <a:xfrm>
            <a:off x="609600" y="1651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HML VIDEO LESSONS · GR-003 · SLIDE 8 · АНХААР!</a:t>
            </a:r>
            <a:endParaRPr lang="en-US" sz="1050" noProof="1"/>
          </a:p>
        </p:txBody>
      </p:sp>
      <p:sp>
        <p:nvSpPr>
          <p:cNvPr id="4" name="nav-r"/>
          <p:cNvSpPr txBox="1"/>
          <p:nvPr/>
        </p:nvSpPr>
        <p:spPr>
          <a:xfrm>
            <a:off x="5080000" y="165100"/>
            <a:ext cx="6502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PERSONAL PRONOUNS</a:t>
            </a:r>
            <a:endParaRPr lang="en-US" sz="1050" noProof="1"/>
          </a:p>
        </p:txBody>
      </p:sp>
      <p:sp>
        <p:nvSpPr>
          <p:cNvPr id="5" name="foot-l"/>
          <p:cNvSpPr txBox="1"/>
          <p:nvPr/>
        </p:nvSpPr>
        <p:spPr>
          <a:xfrm>
            <a:off x="609600" y="6527800"/>
            <a:ext cx="914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00" noProof="1" b="1">
                <a:solidFill>
                  <a:srgbClr val="4285F4"/>
                </a:solidFill>
                <a:latin typeface="MiSans"/>
                <a:ea typeface="MiSans"/>
              </a:rPr>
              <a:t>40–45 sec</a:t>
            </a: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 · Reveal wrong, then right, per pair — never end on the wrong form</a:t>
            </a:r>
            <a:endParaRPr lang="en-US" sz="1000" noProof="1"/>
          </a:p>
        </p:txBody>
      </p:sp>
      <p:sp>
        <p:nvSpPr>
          <p:cNvPr id="6" name="page-n"/>
          <p:cNvSpPr txBox="1"/>
          <p:nvPr/>
        </p:nvSpPr>
        <p:spPr>
          <a:xfrm>
            <a:off x="10922000" y="65278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08 / 10</a:t>
            </a:r>
            <a:endParaRPr lang="en-US" sz="1000" noProof="1"/>
          </a:p>
        </p:txBody>
      </p:sp>
      <p:sp>
        <p:nvSpPr>
          <p:cNvPr id="7" name="a-bar"/>
          <p:cNvSpPr/>
          <p:nvPr/>
        </p:nvSpPr>
        <p:spPr>
          <a:xfrm>
            <a:off x="609600" y="558800"/>
            <a:ext cx="76200" cy="381000"/>
          </a:xfrm>
          <a:prstGeom prst="rect">
            <a:avLst/>
          </a:prstGeom>
          <a:solidFill>
            <a:srgbClr val="7B2D43"/>
          </a:solidFill>
          <a:ln>
            <a:noFill/>
          </a:ln>
        </p:spPr>
      </p:sp>
      <p:sp>
        <p:nvSpPr>
          <p:cNvPr id="8" name="a-t"/>
          <p:cNvSpPr txBox="1"/>
          <p:nvPr/>
        </p:nvSpPr>
        <p:spPr>
          <a:xfrm>
            <a:off x="838200" y="5080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2700" noProof="1" b="1">
                <a:solidFill>
                  <a:srgbClr val="202124"/>
                </a:solidFill>
                <a:latin typeface="MiSans"/>
                <a:ea typeface="MiSans"/>
              </a:rPr>
              <a:t>Анхаар! · Watch out</a:t>
            </a:r>
            <a:endParaRPr lang="en-US" sz="2700" noProof="1"/>
          </a:p>
        </p:txBody>
      </p:sp>
      <p:sp>
        <p:nvSpPr>
          <p:cNvPr id="9" name="a-sub"/>
          <p:cNvSpPr txBox="1"/>
          <p:nvPr/>
        </p:nvSpPr>
        <p:spPr>
          <a:xfrm>
            <a:off x="838200" y="990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9AA0A6"/>
                </a:solidFill>
                <a:latin typeface="MiSans"/>
                <a:ea typeface="MiSans"/>
              </a:rPr>
              <a:t>The mistakes Mongolian speakers make — wrong, then right.</a:t>
            </a:r>
            <a:endParaRPr lang="en-US" sz="1300" noProof="1"/>
          </a:p>
        </p:txBody>
      </p:sp>
      <p:sp>
        <p:nvSpPr>
          <p:cNvPr id="10" name="a-ctx"/>
          <p:cNvSpPr/>
          <p:nvPr/>
        </p:nvSpPr>
        <p:spPr>
          <a:xfrm>
            <a:off x="609600" y="1422400"/>
            <a:ext cx="10972800" cy="431800"/>
          </a:xfrm>
          <a:prstGeom prst="rect">
            <a:avLst/>
          </a:prstGeom>
          <a:solidFill>
            <a:srgbClr val="F7EAED"/>
          </a:solidFill>
          <a:ln>
            <a:noFill/>
          </a:ln>
        </p:spPr>
      </p:sp>
      <p:sp>
        <p:nvSpPr>
          <p:cNvPr id="11" name="a-ctx-t"/>
          <p:cNvSpPr txBox="1"/>
          <p:nvPr/>
        </p:nvSpPr>
        <p:spPr>
          <a:xfrm>
            <a:off x="787400" y="1422400"/>
            <a:ext cx="1066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1350" noProof="1" b="1">
                <a:solidFill>
                  <a:srgbClr val="7B2D43"/>
                </a:solidFill>
                <a:latin typeface="MiSans"/>
                <a:ea typeface="MiSans"/>
              </a:rPr>
              <a:t>Монголоор:</a:t>
            </a:r>
            <a:r>
              <a:rPr lang="en-US" sz="1350" noProof="1">
                <a:solidFill>
                  <a:srgbClr val="202124"/>
                </a:solidFill>
                <a:latin typeface="MiSans"/>
                <a:ea typeface="MiSans"/>
              </a:rPr>
              <a:t> </a:t>
            </a:r>
            <a:r>
              <a:rPr lang="en-US" sz="1350" noProof="1">
                <a:solidFill>
                  <a:srgbClr val="7B2D43"/>
                </a:solidFill>
                <a:latin typeface="MiSans"/>
                <a:ea typeface="MiSans"/>
              </a:rPr>
              <a:t>"тэр" эрэгтэй, эмэгтэйг ялгадаггүй</a:t>
            </a:r>
            <a:endParaRPr lang="en-US" sz="1350" noProof="1"/>
          </a:p>
        </p:txBody>
      </p:sp>
      <p:sp>
        <p:nvSpPr>
          <p:cNvPr id="12" name="a-hw"/>
          <p:cNvSpPr txBox="1"/>
          <p:nvPr/>
        </p:nvSpPr>
        <p:spPr>
          <a:xfrm>
            <a:off x="1066800" y="20574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200" noProof="1" b="1" spc="120" kern="0">
                <a:solidFill>
                  <a:srgbClr val="7B2D43"/>
                </a:solidFill>
                <a:latin typeface="MiSans"/>
                <a:ea typeface="MiSans"/>
              </a:rPr>
              <a:t>БУРУУ · WRONG</a:t>
            </a:r>
            <a:endParaRPr lang="en-US" sz="1200" noProof="1"/>
          </a:p>
        </p:txBody>
      </p:sp>
      <p:sp>
        <p:nvSpPr>
          <p:cNvPr id="13" name="a-hr"/>
          <p:cNvSpPr txBox="1"/>
          <p:nvPr/>
        </p:nvSpPr>
        <p:spPr>
          <a:xfrm>
            <a:off x="6553200" y="20574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200" noProof="1" b="1" spc="120" kern="0">
                <a:solidFill>
                  <a:srgbClr val="34A853"/>
                </a:solidFill>
                <a:latin typeface="MiSans"/>
                <a:ea typeface="MiSans"/>
              </a:rPr>
              <a:t>ЗӨВ · RIGHT</a:t>
            </a:r>
            <a:endParaRPr lang="en-US" sz="1200" noProof="1"/>
          </a:p>
        </p:txBody>
      </p:sp>
      <p:sp>
        <p:nvSpPr>
          <p:cNvPr id="14" name="a-hl"/>
          <p:cNvSpPr/>
          <p:nvPr/>
        </p:nvSpPr>
        <p:spPr>
          <a:xfrm>
            <a:off x="609600" y="2387600"/>
            <a:ext cx="109728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5" name="a0-xi"/>
          <p:cNvSpPr txBox="1"/>
          <p:nvPr/>
        </p:nvSpPr>
        <p:spPr>
          <a:xfrm>
            <a:off x="609600" y="28448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1500" noProof="1" b="1">
                <a:solidFill>
                  <a:srgbClr val="7B2D43"/>
                </a:solidFill>
                <a:latin typeface="MiSans"/>
                <a:ea typeface="MiSans"/>
              </a:rPr>
              <a:t>✗</a:t>
            </a:r>
            <a:endParaRPr lang="en-US" sz="1500" noProof="1"/>
          </a:p>
        </p:txBody>
      </p:sp>
      <p:sp>
        <p:nvSpPr>
          <p:cNvPr id="16" name="a0-w"/>
          <p:cNvSpPr txBox="1"/>
          <p:nvPr/>
        </p:nvSpPr>
        <p:spPr>
          <a:xfrm>
            <a:off x="1066800" y="2489200"/>
            <a:ext cx="5080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>
                <a:solidFill>
                  <a:srgbClr val="7B2D43"/>
                </a:solidFill>
                <a:latin typeface="MiSans"/>
                <a:ea typeface="MiSans"/>
              </a:rPr>
              <a:t>My mother is a teacher. </a:t>
            </a:r>
            <a:r>
              <a:rPr lang="en-US" sz="1650" noProof="1" strike="sngStrike">
                <a:solidFill>
                  <a:srgbClr val="7B2D43"/>
                </a:solidFill>
                <a:latin typeface="MiSans"/>
                <a:ea typeface="MiSans"/>
              </a:rPr>
              <a:t>He</a:t>
            </a:r>
            <a:r>
              <a:rPr lang="en-US" sz="1650" noProof="1">
                <a:solidFill>
                  <a:srgbClr val="7B2D43"/>
                </a:solidFill>
                <a:latin typeface="MiSans"/>
                <a:ea typeface="MiSans"/>
              </a:rPr>
              <a:t> is kind.</a:t>
            </a:r>
            <a:endParaRPr lang="en-US" sz="1650" noProof="1"/>
          </a:p>
        </p:txBody>
      </p:sp>
      <p:sp>
        <p:nvSpPr>
          <p:cNvPr id="17" name="a0-ci"/>
          <p:cNvSpPr txBox="1"/>
          <p:nvPr/>
        </p:nvSpPr>
        <p:spPr>
          <a:xfrm>
            <a:off x="6197600" y="28448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1500" noProof="1" b="1">
                <a:solidFill>
                  <a:srgbClr val="34A853"/>
                </a:solidFill>
                <a:latin typeface="MiSans"/>
                <a:ea typeface="MiSans"/>
              </a:rPr>
              <a:t>✓</a:t>
            </a:r>
            <a:endParaRPr lang="en-US" sz="1500" noProof="1"/>
          </a:p>
        </p:txBody>
      </p:sp>
      <p:sp>
        <p:nvSpPr>
          <p:cNvPr id="18" name="a0-r"/>
          <p:cNvSpPr txBox="1"/>
          <p:nvPr/>
        </p:nvSpPr>
        <p:spPr>
          <a:xfrm>
            <a:off x="6654800" y="2489200"/>
            <a:ext cx="49276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My mother is a teacher. </a:t>
            </a:r>
            <a:r>
              <a:rPr lang="en-US" sz="1650" noProof="1" b="1">
                <a:solidFill>
                  <a:srgbClr val="4285F4"/>
                </a:solidFill>
                <a:latin typeface="MiSans"/>
                <a:ea typeface="MiSans"/>
              </a:rPr>
              <a:t>She</a:t>
            </a: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 is kind.</a:t>
            </a:r>
            <a:endParaRPr lang="en-US" sz="1650" noProof="1"/>
          </a:p>
        </p:txBody>
      </p:sp>
      <p:sp>
        <p:nvSpPr>
          <p:cNvPr id="19" name="a0-hl"/>
          <p:cNvSpPr/>
          <p:nvPr/>
        </p:nvSpPr>
        <p:spPr>
          <a:xfrm>
            <a:off x="609600" y="3479800"/>
            <a:ext cx="109728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20" name="a1-xi"/>
          <p:cNvSpPr txBox="1"/>
          <p:nvPr/>
        </p:nvSpPr>
        <p:spPr>
          <a:xfrm>
            <a:off x="609600" y="38354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1500" noProof="1" b="1">
                <a:solidFill>
                  <a:srgbClr val="7B2D43"/>
                </a:solidFill>
                <a:latin typeface="MiSans"/>
                <a:ea typeface="MiSans"/>
              </a:rPr>
              <a:t>✗</a:t>
            </a:r>
            <a:endParaRPr lang="en-US" sz="1500" noProof="1"/>
          </a:p>
        </p:txBody>
      </p:sp>
      <p:sp>
        <p:nvSpPr>
          <p:cNvPr id="21" name="a1-w"/>
          <p:cNvSpPr txBox="1"/>
          <p:nvPr/>
        </p:nvSpPr>
        <p:spPr>
          <a:xfrm>
            <a:off x="1066800" y="3479800"/>
            <a:ext cx="5080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>
                <a:solidFill>
                  <a:srgbClr val="7B2D43"/>
                </a:solidFill>
                <a:latin typeface="MiSans"/>
                <a:ea typeface="MiSans"/>
              </a:rPr>
              <a:t>Bat is my friend. </a:t>
            </a:r>
            <a:r>
              <a:rPr lang="en-US" sz="1650" noProof="1" strike="sngStrike">
                <a:solidFill>
                  <a:srgbClr val="7B2D43"/>
                </a:solidFill>
                <a:latin typeface="MiSans"/>
                <a:ea typeface="MiSans"/>
              </a:rPr>
              <a:t>Is</a:t>
            </a:r>
            <a:r>
              <a:rPr lang="en-US" sz="1650" noProof="1">
                <a:solidFill>
                  <a:srgbClr val="7B2D43"/>
                </a:solidFill>
                <a:latin typeface="MiSans"/>
                <a:ea typeface="MiSans"/>
              </a:rPr>
              <a:t> very tall.</a:t>
            </a:r>
            <a:endParaRPr lang="en-US" sz="1650" noProof="1"/>
          </a:p>
        </p:txBody>
      </p:sp>
      <p:sp>
        <p:nvSpPr>
          <p:cNvPr id="22" name="a1-ci"/>
          <p:cNvSpPr txBox="1"/>
          <p:nvPr/>
        </p:nvSpPr>
        <p:spPr>
          <a:xfrm>
            <a:off x="6197600" y="38354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1500" noProof="1" b="1">
                <a:solidFill>
                  <a:srgbClr val="34A853"/>
                </a:solidFill>
                <a:latin typeface="MiSans"/>
                <a:ea typeface="MiSans"/>
              </a:rPr>
              <a:t>✓</a:t>
            </a:r>
            <a:endParaRPr lang="en-US" sz="1500" noProof="1"/>
          </a:p>
        </p:txBody>
      </p:sp>
      <p:sp>
        <p:nvSpPr>
          <p:cNvPr id="23" name="a1-r"/>
          <p:cNvSpPr txBox="1"/>
          <p:nvPr/>
        </p:nvSpPr>
        <p:spPr>
          <a:xfrm>
            <a:off x="6654800" y="3479800"/>
            <a:ext cx="49276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Bat is my friend. </a:t>
            </a:r>
            <a:r>
              <a:rPr lang="en-US" sz="1650" noProof="1" b="1">
                <a:solidFill>
                  <a:srgbClr val="4285F4"/>
                </a:solidFill>
                <a:latin typeface="MiSans"/>
                <a:ea typeface="MiSans"/>
              </a:rPr>
              <a:t>He</a:t>
            </a: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 is very tall.</a:t>
            </a:r>
            <a:endParaRPr lang="en-US" sz="1650" noProof="1"/>
          </a:p>
        </p:txBody>
      </p:sp>
      <p:sp>
        <p:nvSpPr>
          <p:cNvPr id="24" name="a1-hl"/>
          <p:cNvSpPr/>
          <p:nvPr/>
        </p:nvSpPr>
        <p:spPr>
          <a:xfrm>
            <a:off x="609600" y="4470400"/>
            <a:ext cx="109728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25" name="a2-xi"/>
          <p:cNvSpPr txBox="1"/>
          <p:nvPr/>
        </p:nvSpPr>
        <p:spPr>
          <a:xfrm>
            <a:off x="609600" y="48260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1500" noProof="1" b="1">
                <a:solidFill>
                  <a:srgbClr val="7B2D43"/>
                </a:solidFill>
                <a:latin typeface="MiSans"/>
                <a:ea typeface="MiSans"/>
              </a:rPr>
              <a:t>✗</a:t>
            </a:r>
            <a:endParaRPr lang="en-US" sz="1500" noProof="1"/>
          </a:p>
        </p:txBody>
      </p:sp>
      <p:sp>
        <p:nvSpPr>
          <p:cNvPr id="26" name="a2-w"/>
          <p:cNvSpPr txBox="1"/>
          <p:nvPr/>
        </p:nvSpPr>
        <p:spPr>
          <a:xfrm>
            <a:off x="1066800" y="4470400"/>
            <a:ext cx="5080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 strike="sngStrike">
                <a:solidFill>
                  <a:srgbClr val="7B2D43"/>
                </a:solidFill>
                <a:latin typeface="MiSans"/>
                <a:ea typeface="MiSans"/>
              </a:rPr>
              <a:t>i</a:t>
            </a:r>
            <a:r>
              <a:rPr lang="en-US" sz="1650" noProof="1">
                <a:solidFill>
                  <a:srgbClr val="7B2D43"/>
                </a:solidFill>
                <a:latin typeface="MiSans"/>
                <a:ea typeface="MiSans"/>
              </a:rPr>
              <a:t> am a student.</a:t>
            </a:r>
            <a:endParaRPr lang="en-US" sz="1650" noProof="1"/>
          </a:p>
        </p:txBody>
      </p:sp>
      <p:sp>
        <p:nvSpPr>
          <p:cNvPr id="27" name="a2-ci"/>
          <p:cNvSpPr txBox="1"/>
          <p:nvPr/>
        </p:nvSpPr>
        <p:spPr>
          <a:xfrm>
            <a:off x="6197600" y="48260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1500" noProof="1" b="1">
                <a:solidFill>
                  <a:srgbClr val="34A853"/>
                </a:solidFill>
                <a:latin typeface="MiSans"/>
                <a:ea typeface="MiSans"/>
              </a:rPr>
              <a:t>✓</a:t>
            </a:r>
            <a:endParaRPr lang="en-US" sz="1500" noProof="1"/>
          </a:p>
        </p:txBody>
      </p:sp>
      <p:sp>
        <p:nvSpPr>
          <p:cNvPr id="28" name="a2-r"/>
          <p:cNvSpPr txBox="1"/>
          <p:nvPr/>
        </p:nvSpPr>
        <p:spPr>
          <a:xfrm>
            <a:off x="6654800" y="4470400"/>
            <a:ext cx="49276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650" noProof="1" b="1">
                <a:solidFill>
                  <a:srgbClr val="4285F4"/>
                </a:solidFill>
                <a:latin typeface="MiSans"/>
                <a:ea typeface="MiSans"/>
              </a:rPr>
              <a:t>I</a:t>
            </a:r>
            <a:r>
              <a:rPr lang="en-US" sz="1650" noProof="1">
                <a:solidFill>
                  <a:srgbClr val="202124"/>
                </a:solidFill>
                <a:latin typeface="MiSans"/>
                <a:ea typeface="MiSans"/>
              </a:rPr>
              <a:t> am a student.</a:t>
            </a:r>
            <a:endParaRPr lang="en-US" sz="16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-top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3" name="nav-l"/>
          <p:cNvSpPr txBox="1"/>
          <p:nvPr/>
        </p:nvSpPr>
        <p:spPr>
          <a:xfrm>
            <a:off x="609600" y="1651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HML VIDEO LESSONS · GR-003 · SLIDE 9 · MODEL</a:t>
            </a:r>
            <a:endParaRPr lang="en-US" sz="1050" noProof="1"/>
          </a:p>
        </p:txBody>
      </p:sp>
      <p:sp>
        <p:nvSpPr>
          <p:cNvPr id="4" name="nav-r"/>
          <p:cNvSpPr txBox="1"/>
          <p:nvPr/>
        </p:nvSpPr>
        <p:spPr>
          <a:xfrm>
            <a:off x="5080000" y="165100"/>
            <a:ext cx="6502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50" noProof="1" spc="80" kern="0">
                <a:solidFill>
                  <a:srgbClr val="9AA0A6"/>
                </a:solidFill>
                <a:latin typeface="MiSans"/>
                <a:ea typeface="MiSans"/>
              </a:rPr>
              <a:t>PERSONAL PRONOUNS</a:t>
            </a:r>
            <a:endParaRPr lang="en-US" sz="1050" noProof="1"/>
          </a:p>
        </p:txBody>
      </p:sp>
      <p:sp>
        <p:nvSpPr>
          <p:cNvPr id="5" name="foot-l"/>
          <p:cNvSpPr txBox="1"/>
          <p:nvPr/>
        </p:nvSpPr>
        <p:spPr>
          <a:xfrm>
            <a:off x="609600" y="6527800"/>
            <a:ext cx="914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00" noProof="1" b="1">
                <a:solidFill>
                  <a:srgbClr val="4285F4"/>
                </a:solidFill>
                <a:latin typeface="MiSans"/>
                <a:ea typeface="MiSans"/>
              </a:rPr>
              <a:t>45 sec</a:t>
            </a: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 · Read each line twice: slowly, then at natural speed</a:t>
            </a:r>
            <a:endParaRPr lang="en-US" sz="1000" noProof="1"/>
          </a:p>
        </p:txBody>
      </p:sp>
      <p:sp>
        <p:nvSpPr>
          <p:cNvPr id="6" name="page-n"/>
          <p:cNvSpPr txBox="1"/>
          <p:nvPr/>
        </p:nvSpPr>
        <p:spPr>
          <a:xfrm>
            <a:off x="10922000" y="65278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9AA0A6"/>
                </a:solidFill>
                <a:latin typeface="MiSans"/>
                <a:ea typeface="MiSans"/>
              </a:rPr>
              <a:t>09 / 10</a:t>
            </a:r>
            <a:endParaRPr lang="en-US" sz="1000" noProof="1"/>
          </a:p>
        </p:txBody>
      </p:sp>
      <p:sp>
        <p:nvSpPr>
          <p:cNvPr id="7" name="s-t"/>
          <p:cNvSpPr txBox="1"/>
          <p:nvPr/>
        </p:nvSpPr>
        <p:spPr>
          <a:xfrm>
            <a:off x="609600" y="508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2700" noProof="1" b="1">
                <a:solidFill>
                  <a:srgbClr val="202124"/>
                </a:solidFill>
                <a:latin typeface="MiSans"/>
                <a:ea typeface="MiSans"/>
              </a:rPr>
              <a:t>Model · my family</a:t>
            </a:r>
            <a:endParaRPr lang="en-US" sz="2700" noProof="1"/>
          </a:p>
        </p:txBody>
      </p:sp>
      <p:sp>
        <p:nvSpPr>
          <p:cNvPr id="8" name="s-t-sub"/>
          <p:cNvSpPr txBox="1"/>
          <p:nvPr/>
        </p:nvSpPr>
        <p:spPr>
          <a:xfrm>
            <a:off x="609600" y="9906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9AA0A6"/>
                </a:solidFill>
                <a:latin typeface="MiSans"/>
                <a:ea typeface="MiSans"/>
              </a:rPr>
              <a:t>Copy the model and change it to be about yourself.</a:t>
            </a:r>
            <a:endParaRPr lang="en-US" sz="1300" noProof="1"/>
          </a:p>
        </p:txBody>
      </p:sp>
      <p:sp>
        <p:nvSpPr>
          <p:cNvPr id="9" name="m0"/>
          <p:cNvSpPr txBox="1"/>
          <p:nvPr/>
        </p:nvSpPr>
        <p:spPr>
          <a:xfrm>
            <a:off x="609600" y="14986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750" noProof="1">
                <a:solidFill>
                  <a:srgbClr val="202124"/>
                </a:solidFill>
                <a:latin typeface="MiSans"/>
                <a:ea typeface="MiSans"/>
              </a:rPr>
              <a:t>This is my family.</a:t>
            </a:r>
            <a:endParaRPr lang="en-US" sz="1750" noProof="1"/>
          </a:p>
        </p:txBody>
      </p:sp>
      <p:sp>
        <p:nvSpPr>
          <p:cNvPr id="10" name="m0-hl"/>
          <p:cNvSpPr/>
          <p:nvPr/>
        </p:nvSpPr>
        <p:spPr>
          <a:xfrm>
            <a:off x="609600" y="2260600"/>
            <a:ext cx="109728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1" name="m1"/>
          <p:cNvSpPr txBox="1"/>
          <p:nvPr/>
        </p:nvSpPr>
        <p:spPr>
          <a:xfrm>
            <a:off x="609600" y="22606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750" noProof="1">
                <a:solidFill>
                  <a:srgbClr val="202124"/>
                </a:solidFill>
                <a:latin typeface="MiSans"/>
                <a:ea typeface="MiSans"/>
              </a:rPr>
              <a:t>My father is Bold. </a:t>
            </a:r>
            <a:r>
              <a:rPr lang="en-US" sz="1750" noProof="1" b="1">
                <a:solidFill>
                  <a:srgbClr val="4285F4"/>
                </a:solidFill>
                <a:latin typeface="MiSans"/>
                <a:ea typeface="MiSans"/>
              </a:rPr>
              <a:t>He</a:t>
            </a:r>
            <a:r>
              <a:rPr lang="en-US" sz="1750" noProof="1">
                <a:solidFill>
                  <a:srgbClr val="202124"/>
                </a:solidFill>
                <a:latin typeface="MiSans"/>
                <a:ea typeface="MiSans"/>
              </a:rPr>
              <a:t> is a driver.</a:t>
            </a:r>
            <a:endParaRPr lang="en-US" sz="1750" noProof="1"/>
          </a:p>
        </p:txBody>
      </p:sp>
      <p:sp>
        <p:nvSpPr>
          <p:cNvPr id="12" name="m1-hl"/>
          <p:cNvSpPr/>
          <p:nvPr/>
        </p:nvSpPr>
        <p:spPr>
          <a:xfrm>
            <a:off x="609600" y="3022600"/>
            <a:ext cx="109728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3" name="m2"/>
          <p:cNvSpPr txBox="1"/>
          <p:nvPr/>
        </p:nvSpPr>
        <p:spPr>
          <a:xfrm>
            <a:off x="609600" y="30226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750" noProof="1">
                <a:solidFill>
                  <a:srgbClr val="202124"/>
                </a:solidFill>
                <a:latin typeface="MiSans"/>
                <a:ea typeface="MiSans"/>
              </a:rPr>
              <a:t>My mother is Saraa. </a:t>
            </a:r>
            <a:r>
              <a:rPr lang="en-US" sz="1750" noProof="1" b="1">
                <a:solidFill>
                  <a:srgbClr val="4285F4"/>
                </a:solidFill>
                <a:latin typeface="MiSans"/>
                <a:ea typeface="MiSans"/>
              </a:rPr>
              <a:t>She</a:t>
            </a:r>
            <a:r>
              <a:rPr lang="en-US" sz="1750" noProof="1">
                <a:solidFill>
                  <a:srgbClr val="202124"/>
                </a:solidFill>
                <a:latin typeface="MiSans"/>
                <a:ea typeface="MiSans"/>
              </a:rPr>
              <a:t> is a doctor.</a:t>
            </a:r>
            <a:endParaRPr lang="en-US" sz="1750" noProof="1"/>
          </a:p>
        </p:txBody>
      </p:sp>
      <p:sp>
        <p:nvSpPr>
          <p:cNvPr id="14" name="m2-hl"/>
          <p:cNvSpPr/>
          <p:nvPr/>
        </p:nvSpPr>
        <p:spPr>
          <a:xfrm>
            <a:off x="609600" y="3784600"/>
            <a:ext cx="109728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5" name="m3"/>
          <p:cNvSpPr txBox="1"/>
          <p:nvPr/>
        </p:nvSpPr>
        <p:spPr>
          <a:xfrm>
            <a:off x="609600" y="37846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750" noProof="1">
                <a:solidFill>
                  <a:srgbClr val="202124"/>
                </a:solidFill>
                <a:latin typeface="MiSans"/>
                <a:ea typeface="MiSans"/>
              </a:rPr>
              <a:t>My sister and I are students. </a:t>
            </a:r>
            <a:r>
              <a:rPr lang="en-US" sz="1750" noProof="1" b="1">
                <a:solidFill>
                  <a:srgbClr val="4285F4"/>
                </a:solidFill>
                <a:latin typeface="MiSans"/>
                <a:ea typeface="MiSans"/>
              </a:rPr>
              <a:t>We</a:t>
            </a:r>
            <a:r>
              <a:rPr lang="en-US" sz="1750" noProof="1">
                <a:solidFill>
                  <a:srgbClr val="202124"/>
                </a:solidFill>
                <a:latin typeface="MiSans"/>
                <a:ea typeface="MiSans"/>
              </a:rPr>
              <a:t> are in the same school.</a:t>
            </a:r>
            <a:endParaRPr lang="en-US" sz="1750" noProof="1"/>
          </a:p>
        </p:txBody>
      </p:sp>
      <p:sp>
        <p:nvSpPr>
          <p:cNvPr id="16" name="m3-hl"/>
          <p:cNvSpPr/>
          <p:nvPr/>
        </p:nvSpPr>
        <p:spPr>
          <a:xfrm>
            <a:off x="609600" y="4546600"/>
            <a:ext cx="109728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7" name="m4"/>
          <p:cNvSpPr txBox="1"/>
          <p:nvPr/>
        </p:nvSpPr>
        <p:spPr>
          <a:xfrm>
            <a:off x="609600" y="45466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750" noProof="1">
                <a:solidFill>
                  <a:srgbClr val="202124"/>
                </a:solidFill>
                <a:latin typeface="MiSans"/>
                <a:ea typeface="MiSans"/>
              </a:rPr>
              <a:t>This is our cat. </a:t>
            </a:r>
            <a:r>
              <a:rPr lang="en-US" sz="1750" noProof="1" b="1">
                <a:solidFill>
                  <a:srgbClr val="4285F4"/>
                </a:solidFill>
                <a:latin typeface="MiSans"/>
                <a:ea typeface="MiSans"/>
              </a:rPr>
              <a:t>It</a:t>
            </a:r>
            <a:r>
              <a:rPr lang="en-US" sz="1750" noProof="1">
                <a:solidFill>
                  <a:srgbClr val="202124"/>
                </a:solidFill>
                <a:latin typeface="MiSans"/>
                <a:ea typeface="MiSans"/>
              </a:rPr>
              <a:t> is black and white.</a:t>
            </a:r>
            <a:endParaRPr lang="en-US" sz="1750" noProof="1"/>
          </a:p>
        </p:txBody>
      </p:sp>
      <p:sp>
        <p:nvSpPr>
          <p:cNvPr id="18" name="m4-hl"/>
          <p:cNvSpPr/>
          <p:nvPr/>
        </p:nvSpPr>
        <p:spPr>
          <a:xfrm>
            <a:off x="609600" y="5308600"/>
            <a:ext cx="109728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9" name="m5"/>
          <p:cNvSpPr txBox="1"/>
          <p:nvPr/>
        </p:nvSpPr>
        <p:spPr>
          <a:xfrm>
            <a:off x="609600" y="53086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750" noProof="1">
                <a:solidFill>
                  <a:srgbClr val="202124"/>
                </a:solidFill>
                <a:latin typeface="MiSans"/>
                <a:ea typeface="MiSans"/>
              </a:rPr>
              <a:t>My grandparents are in Khovd. </a:t>
            </a:r>
            <a:r>
              <a:rPr lang="en-US" sz="1750" noProof="1" b="1">
                <a:solidFill>
                  <a:srgbClr val="4285F4"/>
                </a:solidFill>
                <a:latin typeface="MiSans"/>
                <a:ea typeface="MiSans"/>
              </a:rPr>
              <a:t>They</a:t>
            </a:r>
            <a:r>
              <a:rPr lang="en-US" sz="1750" noProof="1">
                <a:solidFill>
                  <a:srgbClr val="202124"/>
                </a:solidFill>
                <a:latin typeface="MiSans"/>
                <a:ea typeface="MiSans"/>
              </a:rPr>
              <a:t> are very kind.</a:t>
            </a:r>
            <a:endParaRPr lang="en-US" sz="17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E5C"/>
          </a:solidFill>
          <a:ln>
            <a:noFill/>
          </a:ln>
        </p:spPr>
      </p:sp>
      <p:sp>
        <p:nvSpPr>
          <p:cNvPr id="3" name="rule-top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4C2E0"/>
          </a:solidFill>
          <a:ln>
            <a:noFill/>
          </a:ln>
        </p:spPr>
      </p:sp>
      <p:sp>
        <p:nvSpPr>
          <p:cNvPr id="4" name="nav-l"/>
          <p:cNvSpPr txBox="1"/>
          <p:nvPr/>
        </p:nvSpPr>
        <p:spPr>
          <a:xfrm>
            <a:off x="609600" y="1651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1050" noProof="1" spc="80" kern="0">
                <a:solidFill>
                  <a:srgbClr val="ADCCFA"/>
                </a:solidFill>
                <a:latin typeface="MiSans"/>
                <a:ea typeface="MiSans"/>
              </a:rPr>
              <a:t>HML VIDEO LESSONS · GR-003 · SLIDE 10 · САНАЖ АВ</a:t>
            </a:r>
            <a:endParaRPr lang="en-US" sz="1050" noProof="1"/>
          </a:p>
        </p:txBody>
      </p:sp>
      <p:sp>
        <p:nvSpPr>
          <p:cNvPr id="5" name="nav-r"/>
          <p:cNvSpPr txBox="1"/>
          <p:nvPr/>
        </p:nvSpPr>
        <p:spPr>
          <a:xfrm>
            <a:off x="5080000" y="165100"/>
            <a:ext cx="6502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50" noProof="1" spc="80" kern="0">
                <a:solidFill>
                  <a:srgbClr val="ADCCFA"/>
                </a:solidFill>
                <a:latin typeface="MiSans"/>
                <a:ea typeface="MiSans"/>
              </a:rPr>
              <a:t>PERSONAL PRONOUNS</a:t>
            </a:r>
            <a:endParaRPr lang="en-US" sz="1050" noProof="1"/>
          </a:p>
        </p:txBody>
      </p:sp>
      <p:sp>
        <p:nvSpPr>
          <p:cNvPr id="6" name="t"/>
          <p:cNvSpPr txBox="1"/>
          <p:nvPr/>
        </p:nvSpPr>
        <p:spPr>
          <a:xfrm>
            <a:off x="609600" y="6604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0000"/>
              </a:lnSpc>
            </a:pPr>
            <a:r>
              <a:rPr lang="en-US" sz="3000" noProof="1" b="1">
                <a:solidFill>
                  <a:srgbClr val="FFFFFF"/>
                </a:solidFill>
                <a:latin typeface="MiSans"/>
                <a:ea typeface="MiSans"/>
              </a:rPr>
              <a:t>Санаж ав · Take it with you</a:t>
            </a:r>
            <a:endParaRPr lang="en-US" sz="3000" noProof="1"/>
          </a:p>
        </p:txBody>
      </p:sp>
      <p:sp>
        <p:nvSpPr>
          <p:cNvPr id="7" name="s0-n"/>
          <p:cNvSpPr txBox="1"/>
          <p:nvPr/>
        </p:nvSpPr>
        <p:spPr>
          <a:xfrm>
            <a:off x="609600" y="1790700"/>
            <a:ext cx="558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2600" noProof="1" b="1">
                <a:solidFill>
                  <a:srgbClr val="24C2E0"/>
                </a:solidFill>
                <a:latin typeface="MiSans"/>
                <a:ea typeface="MiSans"/>
              </a:rPr>
              <a:t>1</a:t>
            </a:r>
            <a:endParaRPr lang="en-US" sz="2600" noProof="1"/>
          </a:p>
        </p:txBody>
      </p:sp>
      <p:sp>
        <p:nvSpPr>
          <p:cNvPr id="8" name="s0-t"/>
          <p:cNvSpPr txBox="1"/>
          <p:nvPr/>
        </p:nvSpPr>
        <p:spPr>
          <a:xfrm>
            <a:off x="1270000" y="1625600"/>
            <a:ext cx="103124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750" noProof="1">
                <a:solidFill>
                  <a:srgbClr val="FFFFFF"/>
                </a:solidFill>
                <a:latin typeface="MiSans"/>
                <a:ea typeface="MiSans"/>
              </a:rPr>
              <a:t>I / we · you · he, she, it / they — speaker, listener, everyone else</a:t>
            </a:r>
            <a:endParaRPr lang="en-US" sz="1750" noProof="1"/>
          </a:p>
        </p:txBody>
      </p:sp>
      <p:sp>
        <p:nvSpPr>
          <p:cNvPr id="9" name="s0-hl"/>
          <p:cNvSpPr/>
          <p:nvPr/>
        </p:nvSpPr>
        <p:spPr>
          <a:xfrm>
            <a:off x="609600" y="2413000"/>
            <a:ext cx="109728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0" name="s1-n"/>
          <p:cNvSpPr txBox="1"/>
          <p:nvPr/>
        </p:nvSpPr>
        <p:spPr>
          <a:xfrm>
            <a:off x="609600" y="2578100"/>
            <a:ext cx="558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2600" noProof="1" b="1">
                <a:solidFill>
                  <a:srgbClr val="24C2E0"/>
                </a:solidFill>
                <a:latin typeface="MiSans"/>
                <a:ea typeface="MiSans"/>
              </a:rPr>
              <a:t>2</a:t>
            </a:r>
            <a:endParaRPr lang="en-US" sz="2600" noProof="1"/>
          </a:p>
        </p:txBody>
      </p:sp>
      <p:sp>
        <p:nvSpPr>
          <p:cNvPr id="11" name="s1-t"/>
          <p:cNvSpPr txBox="1"/>
          <p:nvPr/>
        </p:nvSpPr>
        <p:spPr>
          <a:xfrm>
            <a:off x="1270000" y="2413000"/>
            <a:ext cx="103124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750" noProof="1">
                <a:solidFill>
                  <a:srgbClr val="FFFFFF"/>
                </a:solidFill>
                <a:latin typeface="MiSans"/>
                <a:ea typeface="MiSans"/>
              </a:rPr>
              <a:t>тэр → </a:t>
            </a:r>
            <a:r>
              <a:rPr lang="en-US" sz="1750" noProof="1" b="1">
                <a:solidFill>
                  <a:srgbClr val="4285F4"/>
                </a:solidFill>
                <a:latin typeface="MiSans"/>
                <a:ea typeface="MiSans"/>
              </a:rPr>
              <a:t>he</a:t>
            </a:r>
            <a:r>
              <a:rPr lang="en-US" sz="1750" noProof="1">
                <a:solidFill>
                  <a:srgbClr val="FFFFFF"/>
                </a:solidFill>
                <a:latin typeface="MiSans"/>
                <a:ea typeface="MiSans"/>
              </a:rPr>
              <a:t> (man) · </a:t>
            </a:r>
            <a:r>
              <a:rPr lang="en-US" sz="1750" noProof="1" b="1">
                <a:solidFill>
                  <a:srgbClr val="4285F4"/>
                </a:solidFill>
                <a:latin typeface="MiSans"/>
                <a:ea typeface="MiSans"/>
              </a:rPr>
              <a:t>she</a:t>
            </a:r>
            <a:r>
              <a:rPr lang="en-US" sz="1750" noProof="1">
                <a:solidFill>
                  <a:srgbClr val="FFFFFF"/>
                </a:solidFill>
                <a:latin typeface="MiSans"/>
                <a:ea typeface="MiSans"/>
              </a:rPr>
              <a:t> (woman) · </a:t>
            </a:r>
            <a:r>
              <a:rPr lang="en-US" sz="1750" noProof="1" b="1">
                <a:solidFill>
                  <a:srgbClr val="4285F4"/>
                </a:solidFill>
                <a:latin typeface="MiSans"/>
                <a:ea typeface="MiSans"/>
              </a:rPr>
              <a:t>it</a:t>
            </a:r>
            <a:r>
              <a:rPr lang="en-US" sz="1750" noProof="1">
                <a:solidFill>
                  <a:srgbClr val="FFFFFF"/>
                </a:solidFill>
                <a:latin typeface="MiSans"/>
                <a:ea typeface="MiSans"/>
              </a:rPr>
              <a:t> (thing)</a:t>
            </a:r>
            <a:endParaRPr lang="en-US" sz="1750" noProof="1"/>
          </a:p>
        </p:txBody>
      </p:sp>
      <p:sp>
        <p:nvSpPr>
          <p:cNvPr id="12" name="s1-hl"/>
          <p:cNvSpPr/>
          <p:nvPr/>
        </p:nvSpPr>
        <p:spPr>
          <a:xfrm>
            <a:off x="609600" y="3200400"/>
            <a:ext cx="109728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3" name="s2-n"/>
          <p:cNvSpPr txBox="1"/>
          <p:nvPr/>
        </p:nvSpPr>
        <p:spPr>
          <a:xfrm>
            <a:off x="609600" y="3365500"/>
            <a:ext cx="558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30000"/>
              </a:lnSpc>
            </a:pPr>
            <a:r>
              <a:rPr lang="en-US" sz="2600" noProof="1" b="1">
                <a:solidFill>
                  <a:srgbClr val="24C2E0"/>
                </a:solidFill>
                <a:latin typeface="MiSans"/>
                <a:ea typeface="MiSans"/>
              </a:rPr>
              <a:t>3</a:t>
            </a:r>
            <a:endParaRPr lang="en-US" sz="2600" noProof="1"/>
          </a:p>
        </p:txBody>
      </p:sp>
      <p:sp>
        <p:nvSpPr>
          <p:cNvPr id="14" name="s2-t"/>
          <p:cNvSpPr txBox="1"/>
          <p:nvPr/>
        </p:nvSpPr>
        <p:spPr>
          <a:xfrm>
            <a:off x="1270000" y="3200400"/>
            <a:ext cx="103124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750" noProof="1" b="1">
                <a:solidFill>
                  <a:srgbClr val="4285F4"/>
                </a:solidFill>
                <a:latin typeface="MiSans"/>
                <a:ea typeface="MiSans"/>
              </a:rPr>
              <a:t>I</a:t>
            </a:r>
            <a:r>
              <a:rPr lang="en-US" sz="1750" noProof="1">
                <a:solidFill>
                  <a:srgbClr val="FFFFFF"/>
                </a:solidFill>
                <a:latin typeface="MiSans"/>
                <a:ea typeface="MiSans"/>
              </a:rPr>
              <a:t> is always a capital letter · every sentence needs a subject</a:t>
            </a:r>
            <a:endParaRPr lang="en-US" sz="1750" noProof="1"/>
          </a:p>
        </p:txBody>
      </p:sp>
      <p:sp>
        <p:nvSpPr>
          <p:cNvPr id="15" name="close"/>
          <p:cNvSpPr txBox="1"/>
          <p:nvPr/>
        </p:nvSpPr>
        <p:spPr>
          <a:xfrm>
            <a:off x="609600" y="41656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450" noProof="1">
                <a:solidFill>
                  <a:srgbClr val="ADCCFA"/>
                </a:solidFill>
                <a:latin typeface="MiSans"/>
                <a:ea typeface="MiSans"/>
              </a:rPr>
              <a:t>Now you can talk about anyone in your family without repeating their name — and without ever mixing up he and she.</a:t>
            </a:r>
            <a:endParaRPr lang="en-US" sz="1450" noProof="1"/>
          </a:p>
        </p:txBody>
      </p:sp>
      <p:sp>
        <p:nvSpPr>
          <p:cNvPr id="16" name="cta"/>
          <p:cNvSpPr/>
          <p:nvPr/>
        </p:nvSpPr>
        <p:spPr>
          <a:xfrm>
            <a:off x="609600" y="5003800"/>
            <a:ext cx="4089400" cy="431800"/>
          </a:xfrm>
          <a:prstGeom prst="roundRect">
            <a:avLst>
              <a:gd name="adj" fmla="val 50000"/>
            </a:avLst>
          </a:prstGeom>
          <a:solidFill>
            <a:srgbClr val="24C2E0"/>
          </a:solidFill>
          <a:ln>
            <a:noFill/>
          </a:ln>
        </p:spPr>
      </p:sp>
      <p:sp>
        <p:nvSpPr>
          <p:cNvPr id="17" name="cta-t"/>
          <p:cNvSpPr txBox="1"/>
          <p:nvPr/>
        </p:nvSpPr>
        <p:spPr>
          <a:xfrm>
            <a:off x="609600" y="5003800"/>
            <a:ext cx="4089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Дасгал → quiz below this video</a:t>
            </a:r>
            <a:endParaRPr lang="en-US" sz="1300" noProof="1"/>
          </a:p>
        </p:txBody>
      </p:sp>
      <p:sp>
        <p:nvSpPr>
          <p:cNvPr id="18" name="hold"/>
          <p:cNvSpPr txBox="1"/>
          <p:nvPr/>
        </p:nvSpPr>
        <p:spPr>
          <a:xfrm>
            <a:off x="7112000" y="5003800"/>
            <a:ext cx="4470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30000"/>
              </a:lnSpc>
            </a:pPr>
            <a:r>
              <a:rPr lang="en-US" sz="1100" noProof="1">
                <a:solidFill>
                  <a:srgbClr val="ADCCFA"/>
                </a:solidFill>
                <a:latin typeface="MiSans"/>
                <a:ea typeface="MiSans"/>
              </a:rPr>
              <a:t>Hold 3 s — students screenshot this slide</a:t>
            </a:r>
            <a:endParaRPr lang="en-US" sz="1100" noProof="1"/>
          </a:p>
        </p:txBody>
      </p:sp>
      <p:sp>
        <p:nvSpPr>
          <p:cNvPr id="19" name="page-n"/>
          <p:cNvSpPr txBox="1"/>
          <p:nvPr/>
        </p:nvSpPr>
        <p:spPr>
          <a:xfrm>
            <a:off x="10922000" y="65278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0000"/>
              </a:lnSpc>
            </a:pPr>
            <a:r>
              <a:rPr lang="en-US" sz="1000" noProof="1">
                <a:solidFill>
                  <a:srgbClr val="ADCCFA"/>
                </a:solidFill>
                <a:latin typeface="MiSans"/>
                <a:ea typeface="MiSans"/>
              </a:rPr>
              <a:t>10 / 10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10</Slides>
</Properties>
</file>

<file path=docProps/core.xml><?xml version="1.0" encoding="utf-8"?>
<cp:coreProperties xmlns:dc="http://purl.org/dc/elements/1.1/" xmlns:cp="http://schemas.openxmlformats.org/package/2006/metadata/core-properties">
  <dc:title>Lesson 1 · GR-003 · Personal pronouns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